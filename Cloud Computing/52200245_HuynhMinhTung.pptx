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ontserrat Medium" panose="020F0502020204030204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2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148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2898219"/>
            <a:ext cx="76454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Triển khai Hệ thống CRM trên Nền tảng SaaS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2766179"/>
            <a:ext cx="5709404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Lý do chọn đề tài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49260" y="4014907"/>
            <a:ext cx="2862858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Sự phổ biến của CRM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260" y="4585811"/>
            <a:ext cx="6304836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CRM đã trở thành một công cụ thiết yếu cho các doanh nghiệp hiện đại.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83924" y="401490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Lợi ích của SaaS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924" y="4585811"/>
            <a:ext cx="6304836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SaaS cung cấp khả năng tiếp cận dễ dàng, chi phí thấp và khả năng mở rộng.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5E0D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260" y="2079546"/>
            <a:ext cx="5709404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Mục tiêu của đề tài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49260" y="3355062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04399" y="3424595"/>
            <a:ext cx="171331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445062" y="3355062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Phân tích lợi ích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45062" y="3840242"/>
            <a:ext cx="3019901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Phân tích lợi ích của việc triển khai CRM trên nền tảng SaaS.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679037" y="3355062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22269" y="3424595"/>
            <a:ext cx="195263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5374838" y="3355062"/>
            <a:ext cx="3011567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Đánh giá các nền tảng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374838" y="3840242"/>
            <a:ext cx="3019901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Đánh giá các nền tảng CRM SaaS phổ biến.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49260" y="5322451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85587" y="5391983"/>
            <a:ext cx="208955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1445062" y="5322451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Xây dựng mô hình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445062" y="5807631"/>
            <a:ext cx="694967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Xây dựng mô hình triển khai CRM phù hợp cho doanh nghiệp.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2766179"/>
            <a:ext cx="6777038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Phương pháp nghiên cứu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49260" y="401490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Thu thập thông tin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260" y="4585811"/>
            <a:ext cx="6304836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Thu thập thông tin từ các nguồn tài liệu, nghiên cứu thị trường và phỏng vấn chuyên gia.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83924" y="401490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Phân tích dữ liệu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924" y="4585811"/>
            <a:ext cx="6304836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Phân tích dữ liệu thu thập được để đưa ra kết luận và khuyến nghị.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658" y="541139"/>
            <a:ext cx="5247799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Cấu trúc đề tài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03770" y="1590675"/>
            <a:ext cx="22860" cy="6099929"/>
          </a:xfrm>
          <a:prstGeom prst="roundRect">
            <a:avLst>
              <a:gd name="adj" fmla="val 129129"/>
            </a:avLst>
          </a:prstGeom>
          <a:solidFill>
            <a:srgbClr val="66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28065" y="2021919"/>
            <a:ext cx="688658" cy="22860"/>
          </a:xfrm>
          <a:prstGeom prst="roundRect">
            <a:avLst>
              <a:gd name="adj" fmla="val 129129"/>
            </a:avLst>
          </a:prstGeom>
          <a:solidFill>
            <a:srgbClr val="66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93863" y="1812012"/>
            <a:ext cx="442674" cy="442674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36500" y="1875830"/>
            <a:ext cx="15740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609023" y="1787366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Giới thiệu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688658" y="2233374"/>
            <a:ext cx="5544264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Giới thiệu về CRM và tầm quan trọng của nó trong doanh nghiệp.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13677" y="3005733"/>
            <a:ext cx="688658" cy="22860"/>
          </a:xfrm>
          <a:prstGeom prst="roundRect">
            <a:avLst>
              <a:gd name="adj" fmla="val 129129"/>
            </a:avLst>
          </a:prstGeom>
          <a:solidFill>
            <a:srgbClr val="66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93863" y="2795826"/>
            <a:ext cx="442674" cy="442674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25427" y="2859643"/>
            <a:ext cx="179546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8397478" y="2771180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SaaS và CRM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8397478" y="3217188"/>
            <a:ext cx="5544264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Giới thiệu về mô hình SaaS và các ứng dụng của CRM trong Cloud Computing.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28065" y="3891201"/>
            <a:ext cx="688658" cy="22860"/>
          </a:xfrm>
          <a:prstGeom prst="roundRect">
            <a:avLst>
              <a:gd name="adj" fmla="val 129129"/>
            </a:avLst>
          </a:prstGeom>
          <a:solidFill>
            <a:srgbClr val="66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93863" y="3681293"/>
            <a:ext cx="442674" cy="442674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19117" y="3745111"/>
            <a:ext cx="192048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3609023" y="3656648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Phân tích yêu cầu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688658" y="4102656"/>
            <a:ext cx="5544264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Phân tích yêu cầu chức năng của hệ thống CRM.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13677" y="4776668"/>
            <a:ext cx="688658" cy="22860"/>
          </a:xfrm>
          <a:prstGeom prst="roundRect">
            <a:avLst>
              <a:gd name="adj" fmla="val 129129"/>
            </a:avLst>
          </a:prstGeom>
          <a:solidFill>
            <a:srgbClr val="66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93863" y="4566761"/>
            <a:ext cx="442674" cy="442674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16021" y="4630579"/>
            <a:ext cx="198358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4</a:t>
            </a:r>
            <a:endParaRPr lang="en-US" sz="2450" dirty="0"/>
          </a:p>
        </p:txBody>
      </p:sp>
      <p:sp>
        <p:nvSpPr>
          <p:cNvPr id="22" name="Text 20"/>
          <p:cNvSpPr/>
          <p:nvPr/>
        </p:nvSpPr>
        <p:spPr>
          <a:xfrm>
            <a:off x="8397478" y="4542115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Thiết kế hệ thống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8397478" y="4988123"/>
            <a:ext cx="5544264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Thiết kế quy trình quản lý khách hàng, cơ sở dữ liệu và giao diện người dùng.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28065" y="5662136"/>
            <a:ext cx="688658" cy="22860"/>
          </a:xfrm>
          <a:prstGeom prst="roundRect">
            <a:avLst>
              <a:gd name="adj" fmla="val 129129"/>
            </a:avLst>
          </a:prstGeom>
          <a:solidFill>
            <a:srgbClr val="66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93863" y="5452229"/>
            <a:ext cx="442674" cy="442674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20664" y="5516047"/>
            <a:ext cx="188952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5</a:t>
            </a:r>
            <a:endParaRPr lang="en-US" sz="2450" dirty="0"/>
          </a:p>
        </p:txBody>
      </p:sp>
      <p:sp>
        <p:nvSpPr>
          <p:cNvPr id="27" name="Text 25"/>
          <p:cNvSpPr/>
          <p:nvPr/>
        </p:nvSpPr>
        <p:spPr>
          <a:xfrm>
            <a:off x="3408164" y="5427583"/>
            <a:ext cx="2824758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Triển khai và kiểm thử</a:t>
            </a:r>
            <a:endParaRPr lang="en-US" sz="2050" dirty="0"/>
          </a:p>
        </p:txBody>
      </p:sp>
      <p:sp>
        <p:nvSpPr>
          <p:cNvPr id="28" name="Text 26"/>
          <p:cNvSpPr/>
          <p:nvPr/>
        </p:nvSpPr>
        <p:spPr>
          <a:xfrm>
            <a:off x="688658" y="5873591"/>
            <a:ext cx="5544264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Triển khai hệ thống CRM và kiểm thử bảo mật và chức năng.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513677" y="6547604"/>
            <a:ext cx="688658" cy="22860"/>
          </a:xfrm>
          <a:prstGeom prst="roundRect">
            <a:avLst>
              <a:gd name="adj" fmla="val 129129"/>
            </a:avLst>
          </a:prstGeom>
          <a:solidFill>
            <a:srgbClr val="66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93863" y="6337697"/>
            <a:ext cx="442674" cy="442674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17569" y="6401514"/>
            <a:ext cx="19526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6</a:t>
            </a:r>
            <a:endParaRPr lang="en-US" sz="2450" dirty="0"/>
          </a:p>
        </p:txBody>
      </p:sp>
      <p:sp>
        <p:nvSpPr>
          <p:cNvPr id="32" name="Text 30"/>
          <p:cNvSpPr/>
          <p:nvPr/>
        </p:nvSpPr>
        <p:spPr>
          <a:xfrm>
            <a:off x="8397478" y="6313051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Đánh giá và kết luận</a:t>
            </a:r>
            <a:endParaRPr lang="en-US" sz="2050" dirty="0"/>
          </a:p>
        </p:txBody>
      </p:sp>
      <p:sp>
        <p:nvSpPr>
          <p:cNvPr id="33" name="Text 31"/>
          <p:cNvSpPr/>
          <p:nvPr/>
        </p:nvSpPr>
        <p:spPr>
          <a:xfrm>
            <a:off x="8397478" y="6759059"/>
            <a:ext cx="5544264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Đánh giá hiệu quả của hệ thống CRM và đề xuất hướng phát triển trong tương lai.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660" y="2455902"/>
            <a:ext cx="5709404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Giới thiệu về CRM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35660" y="3490555"/>
            <a:ext cx="3715703" cy="2283023"/>
          </a:xfrm>
          <a:prstGeom prst="roundRect">
            <a:avLst>
              <a:gd name="adj" fmla="val 140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49735" y="3704630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Khái niệm CRM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49735" y="4189809"/>
            <a:ext cx="3287554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CRM là một chiến lược kinh doanh tập trung vào việc quản lý mối quan hệ với khách hàng.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165437" y="3490555"/>
            <a:ext cx="3715703" cy="2283023"/>
          </a:xfrm>
          <a:prstGeom prst="roundRect">
            <a:avLst>
              <a:gd name="adj" fmla="val 140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379512" y="3704630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Tầm quan trọng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79512" y="4189809"/>
            <a:ext cx="3287554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CRM giúp doanh nghiệp hiểu rõ khách hàng, nâng cao sự hài lòng và tăng doanh thu.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1551503"/>
            <a:ext cx="76454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Lợi ích của CRM trên nền tảng SaaS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49260" y="3540562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04399" y="3610094"/>
            <a:ext cx="171331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445062" y="3540562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Tiếp cận dễ dàng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45062" y="4025741"/>
            <a:ext cx="3019901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SaaS cho phép truy cập CRM từ bất kỳ thiết bị nào có kết nối internet.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679037" y="3540562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22269" y="3610094"/>
            <a:ext cx="195263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374838" y="3540562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Chi phí thấp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374838" y="4025741"/>
            <a:ext cx="3019901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SaaS loại bỏ chi phí đầu tư ban đầu cho phần cứng và phần mềm.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49260" y="5507950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85587" y="5577483"/>
            <a:ext cx="208955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445062" y="5507950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Khả năng mở rộng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445062" y="5993130"/>
            <a:ext cx="6949678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SaaS cho phép doanh nghiệp dễ dàng mở rộng quy mô CRM theo nhu cầu.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1528286"/>
            <a:ext cx="8958024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Các nền tảng CRM SaaS phổ biến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60" y="2562939"/>
            <a:ext cx="535186" cy="535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260" y="3312200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Salesforce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49260" y="3797379"/>
            <a:ext cx="6405324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Nền tảng CRM hàng đầu với nhiều tính năng và khả năng tùy chỉnh.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696" y="2562939"/>
            <a:ext cx="535186" cy="5351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75696" y="3312200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HubSpot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75696" y="3797379"/>
            <a:ext cx="6405443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Nền tảng CRM tập trung vào tiếp thị và bán hàng, phù hợp với các doanh nghiệp nhỏ và vừa.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260" y="5124450"/>
            <a:ext cx="535186" cy="53518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9260" y="5873710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Zoho CRM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9260" y="6358890"/>
            <a:ext cx="6405324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Nền tảng CRM đa chức năng với giá cả phải chăng.</a:t>
            </a:r>
            <a:endParaRPr lang="en-US" sz="1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5696" y="5124450"/>
            <a:ext cx="535186" cy="53518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75696" y="5873710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Microsoft Dynamics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75696" y="6358890"/>
            <a:ext cx="6405443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Nền tảng CRM tích hợp với các sản phẩm Microsoft khác.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738" y="445294"/>
            <a:ext cx="7754660" cy="53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Phân tích yêu cầu chức năng của CRM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8" y="1308854"/>
            <a:ext cx="809625" cy="1295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19250" y="1470779"/>
            <a:ext cx="2158960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Quản lý khách hàng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619250" y="1837730"/>
            <a:ext cx="12444413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Lưu trữ và quản lý thông tin khách hàng, phân loại và phân nhóm khách hàng.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38" y="2604254"/>
            <a:ext cx="809625" cy="1295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19250" y="2766179"/>
            <a:ext cx="2158960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Theo dõi tương tác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619250" y="3133130"/>
            <a:ext cx="12444413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Theo dõi các tương tác với khách hàng, bao gồm email, cuộc gọi, cuộc hẹn.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738" y="3899654"/>
            <a:ext cx="809625" cy="1295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19250" y="4061579"/>
            <a:ext cx="2455069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Quản lý cơ hội bán hàng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619250" y="4428530"/>
            <a:ext cx="12444413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Quản lý các cơ hội bán hàng, theo dõi tiến độ và dự báo doanh thu.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38" y="5195054"/>
            <a:ext cx="809625" cy="12954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19250" y="5356979"/>
            <a:ext cx="2158960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Tự động hóa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1619250" y="5723930"/>
            <a:ext cx="12444413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Tự động hóa các tác vụ lặp đi lặp lại, như gửi email chào mừng hoặc nhắc nhở.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738" y="6490454"/>
            <a:ext cx="809625" cy="12954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19250" y="6652379"/>
            <a:ext cx="2158960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Tạo báo cáo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1619250" y="7019330"/>
            <a:ext cx="12444413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Tạo báo cáo và phân tích dữ liệu để đánh giá hiệu quả của CRM.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206" y="546259"/>
            <a:ext cx="5297329" cy="662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Kết luận và đề xuất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874" y="1605558"/>
            <a:ext cx="1638419" cy="14828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42874" y="2340769"/>
            <a:ext cx="124182" cy="39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022890" y="2181344"/>
            <a:ext cx="1133594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Hiệu quả</a:t>
            </a:r>
            <a:endParaRPr lang="en-US" sz="2050" dirty="0"/>
          </a:p>
        </p:txBody>
      </p:sp>
      <p:sp>
        <p:nvSpPr>
          <p:cNvPr id="6" name="Shape 3"/>
          <p:cNvSpPr/>
          <p:nvPr/>
        </p:nvSpPr>
        <p:spPr>
          <a:xfrm>
            <a:off x="4873943" y="3103602"/>
            <a:ext cx="9011603" cy="11430"/>
          </a:xfrm>
          <a:prstGeom prst="roundRect">
            <a:avLst>
              <a:gd name="adj" fmla="val 260699"/>
            </a:avLst>
          </a:prstGeom>
          <a:solidFill>
            <a:srgbClr val="662E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724" y="3138011"/>
            <a:ext cx="3276838" cy="14828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34301" y="3680698"/>
            <a:ext cx="141565" cy="39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842159" y="3495437"/>
            <a:ext cx="2648664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Ưu điểm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5842159" y="3945731"/>
            <a:ext cx="5060275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Tiếp cận dễ dàng, chi phí thấp, khả năng mở rộng.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5693212" y="4636056"/>
            <a:ext cx="8192333" cy="11430"/>
          </a:xfrm>
          <a:prstGeom prst="roundRect">
            <a:avLst>
              <a:gd name="adj" fmla="val 260699"/>
            </a:avLst>
          </a:prstGeom>
          <a:solidFill>
            <a:srgbClr val="662E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455" y="4670465"/>
            <a:ext cx="4915257" cy="14828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29301" y="5213152"/>
            <a:ext cx="151448" cy="39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6661309" y="5027890"/>
            <a:ext cx="2648664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Nhược điểm</a:t>
            </a:r>
            <a:endParaRPr lang="en-US" sz="2050" dirty="0"/>
          </a:p>
        </p:txBody>
      </p:sp>
      <p:sp>
        <p:nvSpPr>
          <p:cNvPr id="15" name="Text 10"/>
          <p:cNvSpPr/>
          <p:nvPr/>
        </p:nvSpPr>
        <p:spPr>
          <a:xfrm>
            <a:off x="6661309" y="5478185"/>
            <a:ext cx="4635341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Bảo mật dữ liệu, phụ thuộc vào nhà cung cấp.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6512362" y="6168509"/>
            <a:ext cx="7373183" cy="11430"/>
          </a:xfrm>
          <a:prstGeom prst="roundRect">
            <a:avLst>
              <a:gd name="adj" fmla="val 260699"/>
            </a:avLst>
          </a:prstGeom>
          <a:solidFill>
            <a:srgbClr val="662E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05" y="6202918"/>
            <a:ext cx="6553676" cy="14828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926919" y="6745605"/>
            <a:ext cx="156448" cy="39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4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7480578" y="6401514"/>
            <a:ext cx="2648664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Đề xuất</a:t>
            </a:r>
            <a:endParaRPr lang="en-US" sz="2050" dirty="0"/>
          </a:p>
        </p:txBody>
      </p:sp>
      <p:sp>
        <p:nvSpPr>
          <p:cNvPr id="20" name="Text 14"/>
          <p:cNvSpPr/>
          <p:nvPr/>
        </p:nvSpPr>
        <p:spPr>
          <a:xfrm>
            <a:off x="7480578" y="6851809"/>
            <a:ext cx="6256020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Tích hợp AI, mở rộng tính năng báo cáo, tự động hóa quy trình chăm sóc khách hàng.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676</Words>
  <Application>Microsoft Office PowerPoint</Application>
  <PresentationFormat>Custom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Brygada 1918 Bold</vt:lpstr>
      <vt:lpstr>Montserrat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Tung Huynh</cp:lastModifiedBy>
  <cp:revision>2</cp:revision>
  <dcterms:created xsi:type="dcterms:W3CDTF">2024-12-18T16:23:38Z</dcterms:created>
  <dcterms:modified xsi:type="dcterms:W3CDTF">2024-12-18T16:52:39Z</dcterms:modified>
</cp:coreProperties>
</file>