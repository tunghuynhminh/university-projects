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Muli" charset="1" panose="00000500000000000000"/>
      <p:regular r:id="rId18"/>
    </p:embeddedFont>
    <p:embeddedFont>
      <p:font typeface="Muli Semi-Bold" charset="1" panose="00000700000000000000"/>
      <p:regular r:id="rId19"/>
    </p:embeddedFont>
    <p:embeddedFont>
      <p:font typeface="Muli Extra-Light" charset="1" panose="00000300000000000000"/>
      <p:regular r:id="rId20"/>
    </p:embeddedFont>
    <p:embeddedFont>
      <p:font typeface="Muli Extra-Light Italics" charset="1" panose="0000030000000000000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5.png" Type="http://schemas.openxmlformats.org/officeDocument/2006/relationships/image"/><Relationship Id="rId4" Target="../media/image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sp>
        <p:nvSpPr>
          <p:cNvPr name="Freeform 2" id="2"/>
          <p:cNvSpPr/>
          <p:nvPr/>
        </p:nvSpPr>
        <p:spPr>
          <a:xfrm flipH="true" flipV="true" rot="0">
            <a:off x="12005738" y="2260462"/>
            <a:ext cx="7641615" cy="5845836"/>
          </a:xfrm>
          <a:custGeom>
            <a:avLst/>
            <a:gdLst/>
            <a:ahLst/>
            <a:cxnLst/>
            <a:rect r="r" b="b" t="t" l="l"/>
            <a:pathLst>
              <a:path h="5845836" w="7641615">
                <a:moveTo>
                  <a:pt x="7641616" y="5845836"/>
                </a:moveTo>
                <a:lnTo>
                  <a:pt x="0" y="5845836"/>
                </a:lnTo>
                <a:lnTo>
                  <a:pt x="0" y="0"/>
                </a:lnTo>
                <a:lnTo>
                  <a:pt x="7641616" y="0"/>
                </a:lnTo>
                <a:lnTo>
                  <a:pt x="7641616" y="5845836"/>
                </a:lnTo>
                <a:close/>
              </a:path>
            </a:pathLst>
          </a:custGeom>
          <a:blipFill>
            <a:blip r:embed="rId2"/>
            <a:stretch>
              <a:fillRect l="0" t="0" r="0" b="0"/>
            </a:stretch>
          </a:blipFill>
        </p:spPr>
      </p:sp>
      <p:grpSp>
        <p:nvGrpSpPr>
          <p:cNvPr name="Group 3" id="3"/>
          <p:cNvGrpSpPr/>
          <p:nvPr/>
        </p:nvGrpSpPr>
        <p:grpSpPr>
          <a:xfrm rot="0">
            <a:off x="698612" y="1693258"/>
            <a:ext cx="13619989" cy="7823465"/>
            <a:chOff x="0" y="0"/>
            <a:chExt cx="18159986" cy="10431287"/>
          </a:xfrm>
        </p:grpSpPr>
        <p:sp>
          <p:nvSpPr>
            <p:cNvPr name="TextBox 4" id="4"/>
            <p:cNvSpPr txBox="true"/>
            <p:nvPr/>
          </p:nvSpPr>
          <p:spPr>
            <a:xfrm rot="0">
              <a:off x="0" y="9525"/>
              <a:ext cx="5909370" cy="1368733"/>
            </a:xfrm>
            <a:prstGeom prst="rect">
              <a:avLst/>
            </a:prstGeom>
          </p:spPr>
          <p:txBody>
            <a:bodyPr anchor="t" rtlCol="false" tIns="0" lIns="0" bIns="0" rIns="0">
              <a:spAutoFit/>
            </a:bodyPr>
            <a:lstStyle/>
            <a:p>
              <a:pPr algn="l">
                <a:lnSpc>
                  <a:spcPts val="4069"/>
                </a:lnSpc>
              </a:pPr>
              <a:r>
                <a:rPr lang="en-US" sz="3391">
                  <a:solidFill>
                    <a:srgbClr val="10B5BF"/>
                  </a:solidFill>
                  <a:latin typeface="Muli"/>
                  <a:ea typeface="Muli"/>
                  <a:cs typeface="Muli"/>
                  <a:sym typeface="Muli"/>
                </a:rPr>
                <a:t>Môn: An toàn mạng không dây và di động</a:t>
              </a:r>
            </a:p>
          </p:txBody>
        </p:sp>
        <p:sp>
          <p:nvSpPr>
            <p:cNvPr name="TextBox 5" id="5"/>
            <p:cNvSpPr txBox="true"/>
            <p:nvPr/>
          </p:nvSpPr>
          <p:spPr>
            <a:xfrm rot="0">
              <a:off x="0" y="2978531"/>
              <a:ext cx="18159986" cy="6001906"/>
            </a:xfrm>
            <a:prstGeom prst="rect">
              <a:avLst/>
            </a:prstGeom>
          </p:spPr>
          <p:txBody>
            <a:bodyPr anchor="t" rtlCol="false" tIns="0" lIns="0" bIns="0" rIns="0">
              <a:spAutoFit/>
            </a:bodyPr>
            <a:lstStyle/>
            <a:p>
              <a:pPr algn="l">
                <a:lnSpc>
                  <a:spcPts val="17409"/>
                </a:lnSpc>
              </a:pPr>
              <a:r>
                <a:rPr lang="en-US" sz="15826" b="true">
                  <a:solidFill>
                    <a:srgbClr val="FFFFFF"/>
                  </a:solidFill>
                  <a:latin typeface="Muli Semi-Bold"/>
                  <a:ea typeface="Muli Semi-Bold"/>
                  <a:cs typeface="Muli Semi-Bold"/>
                  <a:sym typeface="Muli Semi-Bold"/>
                </a:rPr>
                <a:t>BÁO CÁO CUỐI KÌ</a:t>
              </a:r>
            </a:p>
          </p:txBody>
        </p:sp>
        <p:sp>
          <p:nvSpPr>
            <p:cNvPr name="TextBox 6" id="6"/>
            <p:cNvSpPr txBox="true"/>
            <p:nvPr/>
          </p:nvSpPr>
          <p:spPr>
            <a:xfrm rot="0">
              <a:off x="0" y="9727168"/>
              <a:ext cx="18159986" cy="706034"/>
            </a:xfrm>
            <a:prstGeom prst="rect">
              <a:avLst/>
            </a:prstGeom>
          </p:spPr>
          <p:txBody>
            <a:bodyPr anchor="t" rtlCol="false" tIns="0" lIns="0" bIns="0" rIns="0">
              <a:spAutoFit/>
            </a:bodyPr>
            <a:lstStyle/>
            <a:p>
              <a:pPr algn="l">
                <a:lnSpc>
                  <a:spcPts val="4431"/>
                </a:lnSpc>
              </a:pPr>
              <a:r>
                <a:rPr lang="en-US" sz="3165" spc="63">
                  <a:solidFill>
                    <a:srgbClr val="FFFFFF"/>
                  </a:solidFill>
                  <a:latin typeface="Muli"/>
                  <a:ea typeface="Muli"/>
                  <a:cs typeface="Muli"/>
                  <a:sym typeface="Muli"/>
                </a:rPr>
                <a:t>XÂY</a:t>
              </a:r>
              <a:r>
                <a:rPr lang="en-US" sz="3165" spc="63">
                  <a:solidFill>
                    <a:srgbClr val="FFFFFF"/>
                  </a:solidFill>
                  <a:latin typeface="Muli"/>
                  <a:ea typeface="Muli"/>
                  <a:cs typeface="Muli"/>
                  <a:sym typeface="Muli"/>
                </a:rPr>
                <a:t> DỰNG VÀ BẢO MẬT MẠNG WIFI CHO DOANH NGHIỆP ABC</a:t>
              </a:r>
            </a:p>
          </p:txBody>
        </p:sp>
      </p:grpSp>
      <p:sp>
        <p:nvSpPr>
          <p:cNvPr name="Freeform 7" id="7"/>
          <p:cNvSpPr/>
          <p:nvPr/>
        </p:nvSpPr>
        <p:spPr>
          <a:xfrm flipH="false" flipV="false" rot="0">
            <a:off x="8120896" y="-716402"/>
            <a:ext cx="3586584" cy="2976864"/>
          </a:xfrm>
          <a:custGeom>
            <a:avLst/>
            <a:gdLst/>
            <a:ahLst/>
            <a:cxnLst/>
            <a:rect r="r" b="b" t="t" l="l"/>
            <a:pathLst>
              <a:path h="2976864" w="3586584">
                <a:moveTo>
                  <a:pt x="0" y="0"/>
                </a:moveTo>
                <a:lnTo>
                  <a:pt x="3586583" y="0"/>
                </a:lnTo>
                <a:lnTo>
                  <a:pt x="3586583" y="2976864"/>
                </a:lnTo>
                <a:lnTo>
                  <a:pt x="0" y="2976864"/>
                </a:lnTo>
                <a:lnTo>
                  <a:pt x="0" y="0"/>
                </a:lnTo>
                <a:close/>
              </a:path>
            </a:pathLst>
          </a:custGeom>
          <a:blipFill>
            <a:blip r:embed="rId3"/>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sp>
        <p:nvSpPr>
          <p:cNvPr name="Freeform 2" id="2"/>
          <p:cNvSpPr/>
          <p:nvPr/>
        </p:nvSpPr>
        <p:spPr>
          <a:xfrm flipH="false" flipV="false" rot="0">
            <a:off x="6613130" y="1328132"/>
            <a:ext cx="1901285" cy="6700564"/>
          </a:xfrm>
          <a:custGeom>
            <a:avLst/>
            <a:gdLst/>
            <a:ahLst/>
            <a:cxnLst/>
            <a:rect r="r" b="b" t="t" l="l"/>
            <a:pathLst>
              <a:path h="6700564" w="1901285">
                <a:moveTo>
                  <a:pt x="0" y="0"/>
                </a:moveTo>
                <a:lnTo>
                  <a:pt x="1901285" y="0"/>
                </a:lnTo>
                <a:lnTo>
                  <a:pt x="1901285" y="6700564"/>
                </a:lnTo>
                <a:lnTo>
                  <a:pt x="0" y="6700564"/>
                </a:lnTo>
                <a:lnTo>
                  <a:pt x="0" y="0"/>
                </a:lnTo>
                <a:close/>
              </a:path>
            </a:pathLst>
          </a:custGeom>
          <a:blipFill>
            <a:blip r:embed="rId2"/>
            <a:stretch>
              <a:fillRect l="0" t="0" r="0" b="0"/>
            </a:stretch>
          </a:blipFill>
        </p:spPr>
      </p:sp>
      <p:grpSp>
        <p:nvGrpSpPr>
          <p:cNvPr name="Group 3" id="3"/>
          <p:cNvGrpSpPr/>
          <p:nvPr/>
        </p:nvGrpSpPr>
        <p:grpSpPr>
          <a:xfrm rot="0">
            <a:off x="1638300" y="1694119"/>
            <a:ext cx="6077873" cy="3835758"/>
            <a:chOff x="0" y="0"/>
            <a:chExt cx="8103830" cy="5114343"/>
          </a:xfrm>
        </p:grpSpPr>
        <p:sp>
          <p:nvSpPr>
            <p:cNvPr name="TextBox 4" id="4"/>
            <p:cNvSpPr txBox="true"/>
            <p:nvPr/>
          </p:nvSpPr>
          <p:spPr>
            <a:xfrm rot="0">
              <a:off x="0" y="4504743"/>
              <a:ext cx="8103830" cy="609600"/>
            </a:xfrm>
            <a:prstGeom prst="rect">
              <a:avLst/>
            </a:prstGeom>
          </p:spPr>
          <p:txBody>
            <a:bodyPr anchor="t" rtlCol="false" tIns="0" lIns="0" bIns="0" rIns="0">
              <a:spAutoFit/>
            </a:bodyPr>
            <a:lstStyle/>
            <a:p>
              <a:pPr algn="l">
                <a:lnSpc>
                  <a:spcPts val="3600"/>
                </a:lnSpc>
              </a:pPr>
              <a:r>
                <a:rPr lang="en-US" sz="3000">
                  <a:solidFill>
                    <a:srgbClr val="FFFFFF"/>
                  </a:solidFill>
                  <a:latin typeface="Muli"/>
                  <a:ea typeface="Muli"/>
                  <a:cs typeface="Muli"/>
                  <a:sym typeface="Muli"/>
                </a:rPr>
                <a:t>Kiến thức về mô hình</a:t>
              </a:r>
            </a:p>
          </p:txBody>
        </p:sp>
        <p:sp>
          <p:nvSpPr>
            <p:cNvPr name="TextBox 5" id="5"/>
            <p:cNvSpPr txBox="true"/>
            <p:nvPr/>
          </p:nvSpPr>
          <p:spPr>
            <a:xfrm rot="0">
              <a:off x="0" y="0"/>
              <a:ext cx="8103830" cy="3657600"/>
            </a:xfrm>
            <a:prstGeom prst="rect">
              <a:avLst/>
            </a:prstGeom>
          </p:spPr>
          <p:txBody>
            <a:bodyPr anchor="t" rtlCol="false" tIns="0" lIns="0" bIns="0" rIns="0">
              <a:spAutoFit/>
            </a:bodyPr>
            <a:lstStyle/>
            <a:p>
              <a:pPr algn="l">
                <a:lnSpc>
                  <a:spcPts val="10800"/>
                </a:lnSpc>
              </a:pPr>
              <a:r>
                <a:rPr lang="en-US" sz="9000">
                  <a:solidFill>
                    <a:srgbClr val="FFFFFF"/>
                  </a:solidFill>
                  <a:latin typeface="Muli"/>
                  <a:ea typeface="Muli"/>
                  <a:cs typeface="Muli"/>
                  <a:sym typeface="Muli"/>
                </a:rPr>
                <a:t>CÁC PHẦN BÁO CÁO</a:t>
              </a:r>
            </a:p>
          </p:txBody>
        </p:sp>
      </p:grpSp>
      <p:grpSp>
        <p:nvGrpSpPr>
          <p:cNvPr name="Group 6" id="6"/>
          <p:cNvGrpSpPr/>
          <p:nvPr/>
        </p:nvGrpSpPr>
        <p:grpSpPr>
          <a:xfrm rot="0">
            <a:off x="10581352" y="1694119"/>
            <a:ext cx="5887373" cy="6860662"/>
            <a:chOff x="0" y="0"/>
            <a:chExt cx="7849830" cy="9147550"/>
          </a:xfrm>
        </p:grpSpPr>
        <p:sp>
          <p:nvSpPr>
            <p:cNvPr name="TextBox 7" id="7"/>
            <p:cNvSpPr txBox="true"/>
            <p:nvPr/>
          </p:nvSpPr>
          <p:spPr>
            <a:xfrm rot="0">
              <a:off x="0" y="-47625"/>
              <a:ext cx="7849830" cy="547158"/>
            </a:xfrm>
            <a:prstGeom prst="rect">
              <a:avLst/>
            </a:prstGeom>
          </p:spPr>
          <p:txBody>
            <a:bodyPr anchor="t" rtlCol="false" tIns="0" lIns="0" bIns="0" rIns="0">
              <a:spAutoFit/>
            </a:bodyPr>
            <a:lstStyle/>
            <a:p>
              <a:pPr algn="l">
                <a:lnSpc>
                  <a:spcPts val="3500"/>
                </a:lnSpc>
              </a:pPr>
              <a:r>
                <a:rPr lang="en-US" sz="2500">
                  <a:solidFill>
                    <a:srgbClr val="FFFFFF"/>
                  </a:solidFill>
                  <a:latin typeface="Muli Extra-Light"/>
                  <a:ea typeface="Muli Extra-Light"/>
                  <a:cs typeface="Muli Extra-Light"/>
                  <a:sym typeface="Muli Extra-Light"/>
                </a:rPr>
                <a:t>Giới thiệu chung về mô hình</a:t>
              </a:r>
            </a:p>
          </p:txBody>
        </p:sp>
        <p:sp>
          <p:nvSpPr>
            <p:cNvPr name="AutoShape 8" id="8"/>
            <p:cNvSpPr/>
            <p:nvPr/>
          </p:nvSpPr>
          <p:spPr>
            <a:xfrm>
              <a:off x="0" y="1111182"/>
              <a:ext cx="7849830" cy="0"/>
            </a:xfrm>
            <a:prstGeom prst="line">
              <a:avLst/>
            </a:prstGeom>
            <a:ln cap="rnd" w="25400">
              <a:solidFill>
                <a:srgbClr val="10B5BF"/>
              </a:solidFill>
              <a:prstDash val="solid"/>
              <a:headEnd type="none" len="sm" w="sm"/>
              <a:tailEnd type="none" len="sm" w="sm"/>
            </a:ln>
          </p:spPr>
        </p:sp>
        <p:sp>
          <p:nvSpPr>
            <p:cNvPr name="TextBox 9" id="9"/>
            <p:cNvSpPr txBox="true"/>
            <p:nvPr/>
          </p:nvSpPr>
          <p:spPr>
            <a:xfrm rot="0">
              <a:off x="0" y="1683672"/>
              <a:ext cx="7849830" cy="547158"/>
            </a:xfrm>
            <a:prstGeom prst="rect">
              <a:avLst/>
            </a:prstGeom>
          </p:spPr>
          <p:txBody>
            <a:bodyPr anchor="t" rtlCol="false" tIns="0" lIns="0" bIns="0" rIns="0">
              <a:spAutoFit/>
            </a:bodyPr>
            <a:lstStyle/>
            <a:p>
              <a:pPr algn="l">
                <a:lnSpc>
                  <a:spcPts val="3500"/>
                </a:lnSpc>
              </a:pPr>
              <a:r>
                <a:rPr lang="en-US" sz="2500">
                  <a:solidFill>
                    <a:srgbClr val="FFFFFF"/>
                  </a:solidFill>
                  <a:latin typeface="Muli Extra-Light"/>
                  <a:ea typeface="Muli Extra-Light"/>
                  <a:cs typeface="Muli Extra-Light"/>
                  <a:sym typeface="Muli Extra-Light"/>
                </a:rPr>
                <a:t>Cơ sở lý thuyết</a:t>
              </a:r>
            </a:p>
          </p:txBody>
        </p:sp>
        <p:sp>
          <p:nvSpPr>
            <p:cNvPr name="AutoShape 10" id="10"/>
            <p:cNvSpPr/>
            <p:nvPr/>
          </p:nvSpPr>
          <p:spPr>
            <a:xfrm>
              <a:off x="0" y="2842478"/>
              <a:ext cx="7849830" cy="0"/>
            </a:xfrm>
            <a:prstGeom prst="line">
              <a:avLst/>
            </a:prstGeom>
            <a:ln cap="rnd" w="25400">
              <a:solidFill>
                <a:srgbClr val="10B5BF"/>
              </a:solidFill>
              <a:prstDash val="solid"/>
              <a:headEnd type="none" len="sm" w="sm"/>
              <a:tailEnd type="none" len="sm" w="sm"/>
            </a:ln>
          </p:spPr>
        </p:sp>
        <p:sp>
          <p:nvSpPr>
            <p:cNvPr name="TextBox 11" id="11"/>
            <p:cNvSpPr txBox="true"/>
            <p:nvPr/>
          </p:nvSpPr>
          <p:spPr>
            <a:xfrm rot="0">
              <a:off x="0" y="3414968"/>
              <a:ext cx="7849830" cy="547158"/>
            </a:xfrm>
            <a:prstGeom prst="rect">
              <a:avLst/>
            </a:prstGeom>
          </p:spPr>
          <p:txBody>
            <a:bodyPr anchor="t" rtlCol="false" tIns="0" lIns="0" bIns="0" rIns="0">
              <a:spAutoFit/>
            </a:bodyPr>
            <a:lstStyle/>
            <a:p>
              <a:pPr algn="l">
                <a:lnSpc>
                  <a:spcPts val="3500"/>
                </a:lnSpc>
              </a:pPr>
              <a:r>
                <a:rPr lang="en-US" sz="2500">
                  <a:solidFill>
                    <a:srgbClr val="FFFFFF"/>
                  </a:solidFill>
                  <a:latin typeface="Muli Extra-Light"/>
                  <a:ea typeface="Muli Extra-Light"/>
                  <a:cs typeface="Muli Extra-Light"/>
                  <a:sym typeface="Muli Extra-Light"/>
                </a:rPr>
                <a:t>Thực nghiệm chương trình</a:t>
              </a:r>
            </a:p>
          </p:txBody>
        </p:sp>
        <p:sp>
          <p:nvSpPr>
            <p:cNvPr name="AutoShape 12" id="12"/>
            <p:cNvSpPr/>
            <p:nvPr/>
          </p:nvSpPr>
          <p:spPr>
            <a:xfrm>
              <a:off x="0" y="4573775"/>
              <a:ext cx="7849830" cy="0"/>
            </a:xfrm>
            <a:prstGeom prst="line">
              <a:avLst/>
            </a:prstGeom>
            <a:ln cap="rnd" w="25400">
              <a:solidFill>
                <a:srgbClr val="10B5BF"/>
              </a:solidFill>
              <a:prstDash val="solid"/>
              <a:headEnd type="none" len="sm" w="sm"/>
              <a:tailEnd type="none" len="sm" w="sm"/>
            </a:ln>
          </p:spPr>
        </p:sp>
        <p:sp>
          <p:nvSpPr>
            <p:cNvPr name="TextBox 13" id="13"/>
            <p:cNvSpPr txBox="true"/>
            <p:nvPr/>
          </p:nvSpPr>
          <p:spPr>
            <a:xfrm rot="0">
              <a:off x="0" y="5146265"/>
              <a:ext cx="7849830" cy="547158"/>
            </a:xfrm>
            <a:prstGeom prst="rect">
              <a:avLst/>
            </a:prstGeom>
          </p:spPr>
          <p:txBody>
            <a:bodyPr anchor="t" rtlCol="false" tIns="0" lIns="0" bIns="0" rIns="0">
              <a:spAutoFit/>
            </a:bodyPr>
            <a:lstStyle/>
            <a:p>
              <a:pPr algn="l">
                <a:lnSpc>
                  <a:spcPts val="3500"/>
                </a:lnSpc>
              </a:pPr>
              <a:r>
                <a:rPr lang="en-US" sz="2500">
                  <a:solidFill>
                    <a:srgbClr val="FFFFFF"/>
                  </a:solidFill>
                  <a:latin typeface="Muli Extra-Light"/>
                  <a:ea typeface="Muli Extra-Light"/>
                  <a:cs typeface="Muli Extra-Light"/>
                  <a:sym typeface="Muli Extra-Light"/>
                </a:rPr>
                <a:t>Mô hình hệ thống</a:t>
              </a:r>
            </a:p>
          </p:txBody>
        </p:sp>
        <p:sp>
          <p:nvSpPr>
            <p:cNvPr name="AutoShape 14" id="14"/>
            <p:cNvSpPr/>
            <p:nvPr/>
          </p:nvSpPr>
          <p:spPr>
            <a:xfrm>
              <a:off x="0" y="6305071"/>
              <a:ext cx="7849830" cy="0"/>
            </a:xfrm>
            <a:prstGeom prst="line">
              <a:avLst/>
            </a:prstGeom>
            <a:ln cap="rnd" w="25400">
              <a:solidFill>
                <a:srgbClr val="10B5BF"/>
              </a:solidFill>
              <a:prstDash val="solid"/>
              <a:headEnd type="none" len="sm" w="sm"/>
              <a:tailEnd type="none" len="sm" w="sm"/>
            </a:ln>
          </p:spPr>
        </p:sp>
        <p:sp>
          <p:nvSpPr>
            <p:cNvPr name="TextBox 15" id="15"/>
            <p:cNvSpPr txBox="true"/>
            <p:nvPr/>
          </p:nvSpPr>
          <p:spPr>
            <a:xfrm rot="0">
              <a:off x="0" y="6877561"/>
              <a:ext cx="7849830" cy="547158"/>
            </a:xfrm>
            <a:prstGeom prst="rect">
              <a:avLst/>
            </a:prstGeom>
          </p:spPr>
          <p:txBody>
            <a:bodyPr anchor="t" rtlCol="false" tIns="0" lIns="0" bIns="0" rIns="0">
              <a:spAutoFit/>
            </a:bodyPr>
            <a:lstStyle/>
            <a:p>
              <a:pPr algn="l">
                <a:lnSpc>
                  <a:spcPts val="3500"/>
                </a:lnSpc>
              </a:pPr>
              <a:r>
                <a:rPr lang="en-US" sz="2500">
                  <a:solidFill>
                    <a:srgbClr val="FFFFFF"/>
                  </a:solidFill>
                  <a:latin typeface="Muli Extra-Light"/>
                  <a:ea typeface="Muli Extra-Light"/>
                  <a:cs typeface="Muli Extra-Light"/>
                  <a:sym typeface="Muli Extra-Light"/>
                </a:rPr>
                <a:t>Giải pháp bảo mật</a:t>
              </a:r>
            </a:p>
          </p:txBody>
        </p:sp>
        <p:sp>
          <p:nvSpPr>
            <p:cNvPr name="AutoShape 16" id="16"/>
            <p:cNvSpPr/>
            <p:nvPr/>
          </p:nvSpPr>
          <p:spPr>
            <a:xfrm>
              <a:off x="0" y="8036368"/>
              <a:ext cx="7849830" cy="0"/>
            </a:xfrm>
            <a:prstGeom prst="line">
              <a:avLst/>
            </a:prstGeom>
            <a:ln cap="rnd" w="25400">
              <a:solidFill>
                <a:srgbClr val="10B5BF"/>
              </a:solidFill>
              <a:prstDash val="solid"/>
              <a:headEnd type="none" len="sm" w="sm"/>
              <a:tailEnd type="none" len="sm" w="sm"/>
            </a:ln>
          </p:spPr>
        </p:sp>
        <p:sp>
          <p:nvSpPr>
            <p:cNvPr name="TextBox 17" id="17"/>
            <p:cNvSpPr txBox="true"/>
            <p:nvPr/>
          </p:nvSpPr>
          <p:spPr>
            <a:xfrm rot="0">
              <a:off x="0" y="8608858"/>
              <a:ext cx="7849830" cy="547158"/>
            </a:xfrm>
            <a:prstGeom prst="rect">
              <a:avLst/>
            </a:prstGeom>
          </p:spPr>
          <p:txBody>
            <a:bodyPr anchor="t" rtlCol="false" tIns="0" lIns="0" bIns="0" rIns="0">
              <a:spAutoFit/>
            </a:bodyPr>
            <a:lstStyle/>
            <a:p>
              <a:pPr algn="l">
                <a:lnSpc>
                  <a:spcPts val="3500"/>
                </a:lnSpc>
              </a:pPr>
              <a:r>
                <a:rPr lang="en-US" sz="2500">
                  <a:solidFill>
                    <a:srgbClr val="FFFFFF"/>
                  </a:solidFill>
                  <a:latin typeface="Muli Extra-Light"/>
                  <a:ea typeface="Muli Extra-Light"/>
                  <a:cs typeface="Muli Extra-Light"/>
                  <a:sym typeface="Muli Extra-Light"/>
                </a:rPr>
                <a:t>Kết luận và hướng phát triển</a:t>
              </a:r>
            </a:p>
          </p:txBody>
        </p:sp>
      </p:grpSp>
      <p:sp>
        <p:nvSpPr>
          <p:cNvPr name="TextBox 18" id="18"/>
          <p:cNvSpPr txBox="true"/>
          <p:nvPr/>
        </p:nvSpPr>
        <p:spPr>
          <a:xfrm rot="0">
            <a:off x="796927" y="8801100"/>
            <a:ext cx="8928100" cy="457200"/>
          </a:xfrm>
          <a:prstGeom prst="rect">
            <a:avLst/>
          </a:prstGeom>
        </p:spPr>
        <p:txBody>
          <a:bodyPr anchor="t" rtlCol="false" tIns="0" lIns="0" bIns="0" rIns="0">
            <a:spAutoFit/>
          </a:bodyPr>
          <a:lstStyle/>
          <a:p>
            <a:pPr algn="ctr">
              <a:lnSpc>
                <a:spcPts val="3600"/>
              </a:lnSpc>
              <a:spcBef>
                <a:spcPct val="0"/>
              </a:spcBef>
            </a:pPr>
            <a:r>
              <a:rPr lang="en-US" sz="3000">
                <a:solidFill>
                  <a:srgbClr val="FFFFFF"/>
                </a:solidFill>
                <a:latin typeface="Muli"/>
                <a:ea typeface="Muli"/>
                <a:cs typeface="Muli"/>
                <a:sym typeface="Muli"/>
              </a:rPr>
              <a:t>HUỲNH  MINH TÙNG - NGUYỄN THỊ DIỄM QUỲNH</a:t>
            </a:r>
          </a:p>
        </p:txBody>
      </p:sp>
      <p:sp>
        <p:nvSpPr>
          <p:cNvPr name="TextBox 19" id="19"/>
          <p:cNvSpPr txBox="true"/>
          <p:nvPr/>
        </p:nvSpPr>
        <p:spPr>
          <a:xfrm rot="0">
            <a:off x="1501775" y="7117211"/>
            <a:ext cx="4756150" cy="381000"/>
          </a:xfrm>
          <a:prstGeom prst="rect">
            <a:avLst/>
          </a:prstGeom>
        </p:spPr>
        <p:txBody>
          <a:bodyPr anchor="t" rtlCol="false" tIns="0" lIns="0" bIns="0" rIns="0">
            <a:spAutoFit/>
          </a:bodyPr>
          <a:lstStyle/>
          <a:p>
            <a:pPr algn="ctr">
              <a:lnSpc>
                <a:spcPts val="3000"/>
              </a:lnSpc>
              <a:spcBef>
                <a:spcPct val="0"/>
              </a:spcBef>
            </a:pPr>
            <a:r>
              <a:rPr lang="en-US" sz="2500">
                <a:solidFill>
                  <a:srgbClr val="FFFFFF"/>
                </a:solidFill>
                <a:latin typeface="Muli"/>
                <a:ea typeface="Muli"/>
                <a:cs typeface="Muli"/>
                <a:sym typeface="Muli"/>
              </a:rPr>
              <a:t>GV HƯỚNG DẪN: BÙI QUY ANH</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grpSp>
        <p:nvGrpSpPr>
          <p:cNvPr name="Group 3" id="3"/>
          <p:cNvGrpSpPr/>
          <p:nvPr/>
        </p:nvGrpSpPr>
        <p:grpSpPr>
          <a:xfrm rot="0">
            <a:off x="1644533" y="895775"/>
            <a:ext cx="14998935" cy="8362525"/>
            <a:chOff x="0" y="0"/>
            <a:chExt cx="19998579" cy="11150033"/>
          </a:xfrm>
        </p:grpSpPr>
        <p:sp>
          <p:nvSpPr>
            <p:cNvPr name="TextBox 4" id="4"/>
            <p:cNvSpPr txBox="true"/>
            <p:nvPr/>
          </p:nvSpPr>
          <p:spPr>
            <a:xfrm rot="0">
              <a:off x="0" y="4309006"/>
              <a:ext cx="19998579" cy="760990"/>
            </a:xfrm>
            <a:prstGeom prst="rect">
              <a:avLst/>
            </a:prstGeom>
          </p:spPr>
          <p:txBody>
            <a:bodyPr anchor="t" rtlCol="false" tIns="0" lIns="0" bIns="0" rIns="0">
              <a:spAutoFit/>
            </a:bodyPr>
            <a:lstStyle/>
            <a:p>
              <a:pPr algn="ctr">
                <a:lnSpc>
                  <a:spcPts val="4575"/>
                </a:lnSpc>
              </a:pPr>
              <a:r>
                <a:rPr lang="en-US" sz="3813">
                  <a:solidFill>
                    <a:srgbClr val="10B5BF"/>
                  </a:solidFill>
                  <a:latin typeface="Muli"/>
                  <a:ea typeface="Muli"/>
                  <a:cs typeface="Muli"/>
                  <a:sym typeface="Muli"/>
                </a:rPr>
                <a:t>CÁCH THỨC TRIỂN KHAI MÔ HÌNH</a:t>
              </a:r>
            </a:p>
          </p:txBody>
        </p:sp>
        <p:sp>
          <p:nvSpPr>
            <p:cNvPr name="TextBox 5" id="5"/>
            <p:cNvSpPr txBox="true"/>
            <p:nvPr/>
          </p:nvSpPr>
          <p:spPr>
            <a:xfrm rot="0">
              <a:off x="0" y="0"/>
              <a:ext cx="19998579" cy="3542063"/>
            </a:xfrm>
            <a:prstGeom prst="rect">
              <a:avLst/>
            </a:prstGeom>
          </p:spPr>
          <p:txBody>
            <a:bodyPr anchor="t" rtlCol="false" tIns="0" lIns="0" bIns="0" rIns="0">
              <a:spAutoFit/>
            </a:bodyPr>
            <a:lstStyle/>
            <a:p>
              <a:pPr algn="ctr">
                <a:lnSpc>
                  <a:spcPts val="10458"/>
                </a:lnSpc>
              </a:pPr>
              <a:r>
                <a:rPr lang="en-US" sz="8715" b="true">
                  <a:solidFill>
                    <a:srgbClr val="FFFFFF"/>
                  </a:solidFill>
                  <a:latin typeface="Muli Semi-Bold"/>
                  <a:ea typeface="Muli Semi-Bold"/>
                  <a:cs typeface="Muli Semi-Bold"/>
                  <a:sym typeface="Muli Semi-Bold"/>
                </a:rPr>
                <a:t>GIỚI THIỆU CHUNG VỀ </a:t>
              </a:r>
            </a:p>
            <a:p>
              <a:pPr algn="ctr">
                <a:lnSpc>
                  <a:spcPts val="10458"/>
                </a:lnSpc>
              </a:pPr>
              <a:r>
                <a:rPr lang="en-US" b="true" sz="8715">
                  <a:solidFill>
                    <a:srgbClr val="FFFFFF"/>
                  </a:solidFill>
                  <a:latin typeface="Muli Semi-Bold"/>
                  <a:ea typeface="Muli Semi-Bold"/>
                  <a:cs typeface="Muli Semi-Bold"/>
                  <a:sym typeface="Muli Semi-Bold"/>
                </a:rPr>
                <a:t>MÔ HÌNH</a:t>
              </a:r>
            </a:p>
          </p:txBody>
        </p:sp>
        <p:sp>
          <p:nvSpPr>
            <p:cNvPr name="TextBox 6" id="6"/>
            <p:cNvSpPr txBox="true"/>
            <p:nvPr/>
          </p:nvSpPr>
          <p:spPr>
            <a:xfrm rot="0">
              <a:off x="0" y="5779789"/>
              <a:ext cx="19998579" cy="5370245"/>
            </a:xfrm>
            <a:prstGeom prst="rect">
              <a:avLst/>
            </a:prstGeom>
          </p:spPr>
          <p:txBody>
            <a:bodyPr anchor="t" rtlCol="false" tIns="0" lIns="0" bIns="0" rIns="0">
              <a:spAutoFit/>
            </a:bodyPr>
            <a:lstStyle/>
            <a:p>
              <a:pPr algn="ctr">
                <a:lnSpc>
                  <a:spcPts val="4575"/>
                </a:lnSpc>
              </a:pPr>
              <a:r>
                <a:rPr lang="en-US" sz="3268">
                  <a:solidFill>
                    <a:srgbClr val="FFFFFF"/>
                  </a:solidFill>
                  <a:latin typeface="Muli Extra-Light"/>
                  <a:ea typeface="Muli Extra-Light"/>
                  <a:cs typeface="Muli Extra-Light"/>
                  <a:sym typeface="Muli Extra-Light"/>
                </a:rPr>
                <a:t>Mô</a:t>
              </a:r>
              <a:r>
                <a:rPr lang="en-US" sz="3268">
                  <a:solidFill>
                    <a:srgbClr val="FFFFFF"/>
                  </a:solidFill>
                  <a:latin typeface="Muli Extra-Light"/>
                  <a:ea typeface="Muli Extra-Light"/>
                  <a:cs typeface="Muli Extra-Light"/>
                  <a:sym typeface="Muli Extra-Light"/>
                </a:rPr>
                <a:t> hình mạng WiFi cho doanh nghiệp ABC được xây dựng nhằm đáp ứng nhu cầu kết nối không dây ổn định, bảo mật và dễ quản lý. Mạng được phân tách theo từng phòng ban qua các SSID riêng biệt, sử dụng chuẩn bảo mật WPA3 và xác thực 802.1X nhằm tăng cường an ninh. Hệ thống Access Point được bố trí hợp lý để đảm bảo vùng phủ sóng rộng và ổn định. Mô hình giúp doanh nghiệp vận hành hiệu quả, bảo vệ dữ liệu và dễ mở rộng trong tương lai.</a:t>
              </a:r>
            </a:p>
            <a:p>
              <a:pPr algn="ctr">
                <a:lnSpc>
                  <a:spcPts val="4575"/>
                </a:lnSpc>
              </a:pP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sp>
        <p:nvSpPr>
          <p:cNvPr name="Freeform 2" id="2"/>
          <p:cNvSpPr/>
          <p:nvPr/>
        </p:nvSpPr>
        <p:spPr>
          <a:xfrm flipH="true" flipV="false" rot="0">
            <a:off x="-983643" y="7602593"/>
            <a:ext cx="4024687" cy="4528480"/>
          </a:xfrm>
          <a:custGeom>
            <a:avLst/>
            <a:gdLst/>
            <a:ahLst/>
            <a:cxnLst/>
            <a:rect r="r" b="b" t="t" l="l"/>
            <a:pathLst>
              <a:path h="4528480" w="4024687">
                <a:moveTo>
                  <a:pt x="4024686" y="0"/>
                </a:moveTo>
                <a:lnTo>
                  <a:pt x="0" y="0"/>
                </a:lnTo>
                <a:lnTo>
                  <a:pt x="0" y="4528481"/>
                </a:lnTo>
                <a:lnTo>
                  <a:pt x="4024686" y="4528481"/>
                </a:lnTo>
                <a:lnTo>
                  <a:pt x="4024686" y="0"/>
                </a:lnTo>
                <a:close/>
              </a:path>
            </a:pathLst>
          </a:custGeom>
          <a:blipFill>
            <a:blip r:embed="rId2">
              <a:alphaModFix amt="35000"/>
            </a:blip>
            <a:stretch>
              <a:fillRect l="0" t="0" r="0" b="0"/>
            </a:stretch>
          </a:blipFill>
        </p:spPr>
      </p:sp>
      <p:grpSp>
        <p:nvGrpSpPr>
          <p:cNvPr name="Group 3" id="3"/>
          <p:cNvGrpSpPr/>
          <p:nvPr/>
        </p:nvGrpSpPr>
        <p:grpSpPr>
          <a:xfrm rot="0">
            <a:off x="565055" y="1028700"/>
            <a:ext cx="7899519" cy="7596164"/>
            <a:chOff x="0" y="0"/>
            <a:chExt cx="10532691" cy="10128219"/>
          </a:xfrm>
        </p:grpSpPr>
        <p:sp>
          <p:nvSpPr>
            <p:cNvPr name="TextBox 4" id="4"/>
            <p:cNvSpPr txBox="true"/>
            <p:nvPr/>
          </p:nvSpPr>
          <p:spPr>
            <a:xfrm rot="0">
              <a:off x="0" y="0"/>
              <a:ext cx="10532691" cy="2057400"/>
            </a:xfrm>
            <a:prstGeom prst="rect">
              <a:avLst/>
            </a:prstGeom>
          </p:spPr>
          <p:txBody>
            <a:bodyPr anchor="t" rtlCol="false" tIns="0" lIns="0" bIns="0" rIns="0">
              <a:spAutoFit/>
            </a:bodyPr>
            <a:lstStyle/>
            <a:p>
              <a:pPr algn="l">
                <a:lnSpc>
                  <a:spcPts val="6143"/>
                </a:lnSpc>
              </a:pPr>
              <a:r>
                <a:rPr lang="en-US" sz="5119" b="true">
                  <a:solidFill>
                    <a:srgbClr val="FFFFFF"/>
                  </a:solidFill>
                  <a:latin typeface="Muli Semi-Bold"/>
                  <a:ea typeface="Muli Semi-Bold"/>
                  <a:cs typeface="Muli Semi-Bold"/>
                  <a:sym typeface="Muli Semi-Bold"/>
                </a:rPr>
                <a:t>Cấu t</a:t>
              </a:r>
              <a:r>
                <a:rPr lang="en-US" sz="5119" b="true">
                  <a:solidFill>
                    <a:srgbClr val="FFFFFF"/>
                  </a:solidFill>
                  <a:latin typeface="Muli Semi-Bold"/>
                  <a:ea typeface="Muli Semi-Bold"/>
                  <a:cs typeface="Muli Semi-Bold"/>
                  <a:sym typeface="Muli Semi-Bold"/>
                </a:rPr>
                <a:t>rúc nhân sự và nhu cầu hạ tầng mạng</a:t>
              </a:r>
            </a:p>
          </p:txBody>
        </p:sp>
        <p:sp>
          <p:nvSpPr>
            <p:cNvPr name="TextBox 5" id="5"/>
            <p:cNvSpPr txBox="true"/>
            <p:nvPr/>
          </p:nvSpPr>
          <p:spPr>
            <a:xfrm rot="0">
              <a:off x="0" y="3813003"/>
              <a:ext cx="10532691" cy="6315217"/>
            </a:xfrm>
            <a:prstGeom prst="rect">
              <a:avLst/>
            </a:prstGeom>
          </p:spPr>
          <p:txBody>
            <a:bodyPr anchor="t" rtlCol="false" tIns="0" lIns="0" bIns="0" rIns="0">
              <a:spAutoFit/>
            </a:bodyPr>
            <a:lstStyle/>
            <a:p>
              <a:pPr algn="l" marL="586075" indent="-293037" lvl="1">
                <a:lnSpc>
                  <a:spcPts val="3800"/>
                </a:lnSpc>
                <a:buFont typeface="Arial"/>
                <a:buChar char="•"/>
              </a:pPr>
              <a:r>
                <a:rPr lang="en-US" sz="2714">
                  <a:solidFill>
                    <a:srgbClr val="FFFFFF"/>
                  </a:solidFill>
                  <a:latin typeface="Muli Extra-Light"/>
                  <a:ea typeface="Muli Extra-Light"/>
                  <a:cs typeface="Muli Extra-Light"/>
                  <a:sym typeface="Muli Extra-Light"/>
                </a:rPr>
                <a:t>Thông </a:t>
              </a:r>
              <a:r>
                <a:rPr lang="en-US" sz="2714">
                  <a:solidFill>
                    <a:srgbClr val="FFFFFF"/>
                  </a:solidFill>
                  <a:latin typeface="Muli Extra-Light"/>
                  <a:ea typeface="Muli Extra-Light"/>
                  <a:cs typeface="Muli Extra-Light"/>
                  <a:sym typeface="Muli Extra-Light"/>
                </a:rPr>
                <a:t>tin doanh nghiệp:</a:t>
              </a:r>
            </a:p>
            <a:p>
              <a:pPr algn="l" marL="1172149" indent="-390716" lvl="2">
                <a:lnSpc>
                  <a:spcPts val="3800"/>
                </a:lnSpc>
                <a:buFont typeface="Arial"/>
                <a:buChar char="⚬"/>
              </a:pPr>
              <a:r>
                <a:rPr lang="en-US" sz="2714">
                  <a:solidFill>
                    <a:srgbClr val="FFFFFF"/>
                  </a:solidFill>
                  <a:latin typeface="Muli Extra-Light"/>
                  <a:ea typeface="Muli Extra-Light"/>
                  <a:cs typeface="Muli Extra-Light"/>
                  <a:sym typeface="Muli Extra-Light"/>
                </a:rPr>
                <a:t>Nhân viên: ~100 người</a:t>
              </a:r>
            </a:p>
            <a:p>
              <a:pPr algn="l" marL="1172149" indent="-390716" lvl="2">
                <a:lnSpc>
                  <a:spcPts val="3800"/>
                </a:lnSpc>
                <a:buFont typeface="Arial"/>
                <a:buChar char="⚬"/>
              </a:pPr>
              <a:r>
                <a:rPr lang="en-US" sz="2714">
                  <a:solidFill>
                    <a:srgbClr val="FFFFFF"/>
                  </a:solidFill>
                  <a:latin typeface="Muli Extra-Light"/>
                  <a:ea typeface="Muli Extra-Light"/>
                  <a:cs typeface="Muli Extra-Light"/>
                  <a:sym typeface="Muli Extra-Light"/>
                </a:rPr>
                <a:t>Phòng ban: 5 (Kế toán, Nhân sự, IT, Kinh doanh, Hành chính)</a:t>
              </a:r>
            </a:p>
            <a:p>
              <a:pPr algn="l" marL="586076" indent="-293038" lvl="1">
                <a:lnSpc>
                  <a:spcPts val="3800"/>
                </a:lnSpc>
                <a:buFont typeface="Arial"/>
                <a:buChar char="•"/>
              </a:pPr>
              <a:r>
                <a:rPr lang="en-US" sz="2714">
                  <a:solidFill>
                    <a:srgbClr val="FFFFFF"/>
                  </a:solidFill>
                  <a:latin typeface="Muli Extra-Light"/>
                  <a:ea typeface="Muli Extra-Light"/>
                  <a:cs typeface="Muli Extra-Light"/>
                  <a:sym typeface="Muli Extra-Light"/>
                </a:rPr>
                <a:t>Nhu cầu sử dụng mạng:</a:t>
              </a:r>
            </a:p>
            <a:p>
              <a:pPr algn="l" marL="1172149" indent="-390716" lvl="2">
                <a:lnSpc>
                  <a:spcPts val="3800"/>
                </a:lnSpc>
                <a:buFont typeface="Arial"/>
                <a:buChar char="⚬"/>
              </a:pPr>
              <a:r>
                <a:rPr lang="en-US" sz="2714">
                  <a:solidFill>
                    <a:srgbClr val="FFFFFF"/>
                  </a:solidFill>
                  <a:latin typeface="Muli Extra-Light"/>
                  <a:ea typeface="Muli Extra-Light"/>
                  <a:cs typeface="Muli Extra-Light"/>
                  <a:sym typeface="Muli Extra-Light"/>
                </a:rPr>
                <a:t>Truy cập Internet tốc độ cao</a:t>
              </a:r>
            </a:p>
            <a:p>
              <a:pPr algn="l" marL="1172149" indent="-390716" lvl="2">
                <a:lnSpc>
                  <a:spcPts val="3800"/>
                </a:lnSpc>
                <a:buFont typeface="Arial"/>
                <a:buChar char="⚬"/>
              </a:pPr>
              <a:r>
                <a:rPr lang="en-US" sz="2714">
                  <a:solidFill>
                    <a:srgbClr val="FFFFFF"/>
                  </a:solidFill>
                  <a:latin typeface="Muli Extra-Light"/>
                  <a:ea typeface="Muli Extra-Light"/>
                  <a:cs typeface="Muli Extra-Light"/>
                  <a:sym typeface="Muli Extra-Light"/>
                </a:rPr>
                <a:t>Giao tiếp nội bộ (email, ứng dụng mạng)</a:t>
              </a:r>
            </a:p>
            <a:p>
              <a:pPr algn="l" marL="1172149" indent="-390716" lvl="2">
                <a:lnSpc>
                  <a:spcPts val="3800"/>
                </a:lnSpc>
                <a:buFont typeface="Arial"/>
                <a:buChar char="⚬"/>
              </a:pPr>
              <a:r>
                <a:rPr lang="en-US" sz="2714">
                  <a:solidFill>
                    <a:srgbClr val="FFFFFF"/>
                  </a:solidFill>
                  <a:latin typeface="Muli Extra-Light"/>
                  <a:ea typeface="Muli Extra-Light"/>
                  <a:cs typeface="Muli Extra-Light"/>
                  <a:sym typeface="Muli Extra-Light"/>
                </a:rPr>
                <a:t>Chia sẻ tài nguyên nội bộ (máy in, máy chủ)</a:t>
              </a:r>
            </a:p>
            <a:p>
              <a:pPr algn="l" marL="1172149" indent="-390716" lvl="2">
                <a:lnSpc>
                  <a:spcPts val="3800"/>
                </a:lnSpc>
                <a:buFont typeface="Arial"/>
                <a:buChar char="⚬"/>
              </a:pPr>
              <a:r>
                <a:rPr lang="en-US" sz="2714">
                  <a:solidFill>
                    <a:srgbClr val="FFFFFF"/>
                  </a:solidFill>
                  <a:latin typeface="Muli Extra-Light"/>
                  <a:ea typeface="Muli Extra-Light"/>
                  <a:cs typeface="Muli Extra-Light"/>
                  <a:sym typeface="Muli Extra-Light"/>
                </a:rPr>
                <a:t>Truy cập dữ liệu từ xa cho quản lý và nhân sự làm việc ngoài văn phòng</a:t>
              </a:r>
            </a:p>
          </p:txBody>
        </p:sp>
        <p:sp>
          <p:nvSpPr>
            <p:cNvPr name="AutoShape 6" id="6"/>
            <p:cNvSpPr/>
            <p:nvPr/>
          </p:nvSpPr>
          <p:spPr>
            <a:xfrm>
              <a:off x="0" y="2966534"/>
              <a:ext cx="10532691" cy="0"/>
            </a:xfrm>
            <a:prstGeom prst="line">
              <a:avLst/>
            </a:prstGeom>
            <a:ln cap="rnd" w="27580">
              <a:solidFill>
                <a:srgbClr val="10B5BF"/>
              </a:solidFill>
              <a:prstDash val="solid"/>
              <a:headEnd type="none" len="sm" w="sm"/>
              <a:tailEnd type="none" len="sm" w="sm"/>
            </a:ln>
          </p:spPr>
        </p:sp>
      </p:grpSp>
      <p:grpSp>
        <p:nvGrpSpPr>
          <p:cNvPr name="Group 7" id="7"/>
          <p:cNvGrpSpPr/>
          <p:nvPr/>
        </p:nvGrpSpPr>
        <p:grpSpPr>
          <a:xfrm rot="0">
            <a:off x="9144000" y="927015"/>
            <a:ext cx="8759534" cy="9011333"/>
            <a:chOff x="0" y="0"/>
            <a:chExt cx="11679379" cy="12015110"/>
          </a:xfrm>
        </p:grpSpPr>
        <p:sp>
          <p:nvSpPr>
            <p:cNvPr name="TextBox 8" id="8"/>
            <p:cNvSpPr txBox="true"/>
            <p:nvPr/>
          </p:nvSpPr>
          <p:spPr>
            <a:xfrm rot="0">
              <a:off x="0" y="0"/>
              <a:ext cx="11679379" cy="2057400"/>
            </a:xfrm>
            <a:prstGeom prst="rect">
              <a:avLst/>
            </a:prstGeom>
          </p:spPr>
          <p:txBody>
            <a:bodyPr anchor="t" rtlCol="false" tIns="0" lIns="0" bIns="0" rIns="0">
              <a:spAutoFit/>
            </a:bodyPr>
            <a:lstStyle/>
            <a:p>
              <a:pPr algn="l">
                <a:lnSpc>
                  <a:spcPts val="6144"/>
                </a:lnSpc>
              </a:pPr>
              <a:r>
                <a:rPr lang="en-US" sz="5120" b="true">
                  <a:solidFill>
                    <a:srgbClr val="FFFFFF"/>
                  </a:solidFill>
                  <a:latin typeface="Muli Semi-Bold"/>
                  <a:ea typeface="Muli Semi-Bold"/>
                  <a:cs typeface="Muli Semi-Bold"/>
                  <a:sym typeface="Muli Semi-Bold"/>
                </a:rPr>
                <a:t>T</a:t>
              </a:r>
              <a:r>
                <a:rPr lang="en-US" sz="5120" b="true">
                  <a:solidFill>
                    <a:srgbClr val="FFFFFF"/>
                  </a:solidFill>
                  <a:latin typeface="Muli Semi-Bold"/>
                  <a:ea typeface="Muli Semi-Bold"/>
                  <a:cs typeface="Muli Semi-Bold"/>
                  <a:sym typeface="Muli Semi-Bold"/>
                </a:rPr>
                <a:t>hiết bị mạng và hình thức truy cập</a:t>
              </a:r>
            </a:p>
          </p:txBody>
        </p:sp>
        <p:sp>
          <p:nvSpPr>
            <p:cNvPr name="TextBox 9" id="9"/>
            <p:cNvSpPr txBox="true"/>
            <p:nvPr/>
          </p:nvSpPr>
          <p:spPr>
            <a:xfrm rot="0">
              <a:off x="0" y="3793926"/>
              <a:ext cx="11679379" cy="8221184"/>
            </a:xfrm>
            <a:prstGeom prst="rect">
              <a:avLst/>
            </a:prstGeom>
          </p:spPr>
          <p:txBody>
            <a:bodyPr anchor="t" rtlCol="false" tIns="0" lIns="0" bIns="0" rIns="0">
              <a:spAutoFit/>
            </a:bodyPr>
            <a:lstStyle/>
            <a:p>
              <a:pPr algn="l" marL="579908" indent="-289954" lvl="1">
                <a:lnSpc>
                  <a:spcPts val="3760"/>
                </a:lnSpc>
                <a:buFont typeface="Arial"/>
                <a:buChar char="•"/>
              </a:pPr>
              <a:r>
                <a:rPr lang="en-US" sz="2686">
                  <a:solidFill>
                    <a:srgbClr val="FFFFFF"/>
                  </a:solidFill>
                  <a:latin typeface="Muli Extra-Light"/>
                  <a:ea typeface="Muli Extra-Light"/>
                  <a:cs typeface="Muli Extra-Light"/>
                  <a:sym typeface="Muli Extra-Light"/>
                </a:rPr>
                <a:t>Thiết bị kết nối mạng:</a:t>
              </a:r>
            </a:p>
            <a:p>
              <a:pPr algn="l" marL="1159817" indent="-386606" lvl="2">
                <a:lnSpc>
                  <a:spcPts val="3760"/>
                </a:lnSpc>
                <a:buFont typeface="Arial"/>
                <a:buChar char="⚬"/>
              </a:pPr>
              <a:r>
                <a:rPr lang="en-US" sz="2686">
                  <a:solidFill>
                    <a:srgbClr val="FFFFFF"/>
                  </a:solidFill>
                  <a:latin typeface="Muli Extra-Light"/>
                  <a:ea typeface="Muli Extra-Light"/>
                  <a:cs typeface="Muli Extra-Light"/>
                  <a:sym typeface="Muli Extra-Light"/>
                </a:rPr>
                <a:t>Máy tính để bàn/laptop: 120</a:t>
              </a:r>
            </a:p>
            <a:p>
              <a:pPr algn="l" marL="1159817" indent="-386606" lvl="2">
                <a:lnSpc>
                  <a:spcPts val="3760"/>
                </a:lnSpc>
                <a:buFont typeface="Arial"/>
                <a:buChar char="⚬"/>
              </a:pPr>
              <a:r>
                <a:rPr lang="en-US" sz="2686">
                  <a:solidFill>
                    <a:srgbClr val="FFFFFF"/>
                  </a:solidFill>
                  <a:latin typeface="Muli Extra-Light"/>
                  <a:ea typeface="Muli Extra-Light"/>
                  <a:cs typeface="Muli Extra-Light"/>
                  <a:sym typeface="Muli Extra-Light"/>
                </a:rPr>
                <a:t>Máy in mạng: 5</a:t>
              </a:r>
            </a:p>
            <a:p>
              <a:pPr algn="l" marL="1159817" indent="-386606" lvl="2">
                <a:lnSpc>
                  <a:spcPts val="3760"/>
                </a:lnSpc>
                <a:buFont typeface="Arial"/>
                <a:buChar char="⚬"/>
              </a:pPr>
              <a:r>
                <a:rPr lang="en-US" sz="2686">
                  <a:solidFill>
                    <a:srgbClr val="FFFFFF"/>
                  </a:solidFill>
                  <a:latin typeface="Muli Extra-Light"/>
                  <a:ea typeface="Muli Extra-Light"/>
                  <a:cs typeface="Muli Extra-Light"/>
                  <a:sym typeface="Muli Extra-Light"/>
                </a:rPr>
                <a:t>Camera IP: 20</a:t>
              </a:r>
            </a:p>
            <a:p>
              <a:pPr algn="l" marL="1159817" indent="-386606" lvl="2">
                <a:lnSpc>
                  <a:spcPts val="3760"/>
                </a:lnSpc>
                <a:buFont typeface="Arial"/>
                <a:buChar char="⚬"/>
              </a:pPr>
              <a:r>
                <a:rPr lang="en-US" sz="2686">
                  <a:solidFill>
                    <a:srgbClr val="FFFFFF"/>
                  </a:solidFill>
                  <a:latin typeface="Muli Extra-Light"/>
                  <a:ea typeface="Muli Extra-Light"/>
                  <a:cs typeface="Muli Extra-Light"/>
                  <a:sym typeface="Muli Extra-Light"/>
                </a:rPr>
                <a:t>Máy chủ: 3 (file, email, cơ sở dữ liệu)</a:t>
              </a:r>
            </a:p>
            <a:p>
              <a:pPr algn="l" marL="1159817" indent="-386606" lvl="2">
                <a:lnSpc>
                  <a:spcPts val="3760"/>
                </a:lnSpc>
                <a:buFont typeface="Arial"/>
                <a:buChar char="⚬"/>
              </a:pPr>
              <a:r>
                <a:rPr lang="en-US" sz="2686">
                  <a:solidFill>
                    <a:srgbClr val="FFFFFF"/>
                  </a:solidFill>
                  <a:latin typeface="Muli Extra-Light"/>
                  <a:ea typeface="Muli Extra-Light"/>
                  <a:cs typeface="Muli Extra-Light"/>
                  <a:sym typeface="Muli Extra-Light"/>
                </a:rPr>
                <a:t>Thiết bị di động: ~80 (điện thoại, máy tính bảng)</a:t>
              </a:r>
            </a:p>
            <a:p>
              <a:pPr algn="l" marL="579908" indent="-289954" lvl="1">
                <a:lnSpc>
                  <a:spcPts val="3760"/>
                </a:lnSpc>
                <a:buFont typeface="Arial"/>
                <a:buChar char="•"/>
              </a:pPr>
              <a:r>
                <a:rPr lang="en-US" sz="2686">
                  <a:solidFill>
                    <a:srgbClr val="FFFFFF"/>
                  </a:solidFill>
                  <a:latin typeface="Muli Extra-Light"/>
                  <a:ea typeface="Muli Extra-Light"/>
                  <a:cs typeface="Muli Extra-Light"/>
                  <a:sym typeface="Muli Extra-Light"/>
                </a:rPr>
                <a:t>Hình thức truy cập mạng:</a:t>
              </a:r>
            </a:p>
            <a:p>
              <a:pPr algn="l" marL="1159817" indent="-386606" lvl="2">
                <a:lnSpc>
                  <a:spcPts val="3760"/>
                </a:lnSpc>
                <a:buFont typeface="Arial"/>
                <a:buChar char="⚬"/>
              </a:pPr>
              <a:r>
                <a:rPr lang="en-US" sz="2686">
                  <a:solidFill>
                    <a:srgbClr val="FFFFFF"/>
                  </a:solidFill>
                  <a:latin typeface="Muli Extra-Light"/>
                  <a:ea typeface="Muli Extra-Light"/>
                  <a:cs typeface="Muli Extra-Light"/>
                  <a:sym typeface="Muli Extra-Light"/>
                </a:rPr>
                <a:t>Có dây (LAN): Dành cho máy chủ và máy tính cố định</a:t>
              </a:r>
            </a:p>
            <a:p>
              <a:pPr algn="l" marL="1159817" indent="-386606" lvl="2">
                <a:lnSpc>
                  <a:spcPts val="3760"/>
                </a:lnSpc>
                <a:buFont typeface="Arial"/>
                <a:buChar char="⚬"/>
              </a:pPr>
              <a:r>
                <a:rPr lang="en-US" sz="2686">
                  <a:solidFill>
                    <a:srgbClr val="FFFFFF"/>
                  </a:solidFill>
                  <a:latin typeface="Muli Extra-Light"/>
                  <a:ea typeface="Muli Extra-Light"/>
                  <a:cs typeface="Muli Extra-Light"/>
                  <a:sym typeface="Muli Extra-Light"/>
                </a:rPr>
                <a:t>Không dây (Wi-Fi): Dành cho laptop và thiết bị di động</a:t>
              </a:r>
            </a:p>
            <a:p>
              <a:pPr algn="l" marL="1159817" indent="-386606" lvl="2">
                <a:lnSpc>
                  <a:spcPts val="3760"/>
                </a:lnSpc>
                <a:buFont typeface="Arial"/>
                <a:buChar char="⚬"/>
              </a:pPr>
              <a:r>
                <a:rPr lang="en-US" sz="2686">
                  <a:solidFill>
                    <a:srgbClr val="FFFFFF"/>
                  </a:solidFill>
                  <a:latin typeface="Muli Extra-Light"/>
                  <a:ea typeface="Muli Extra-Light"/>
                  <a:cs typeface="Muli Extra-Light"/>
                  <a:sym typeface="Muli Extra-Light"/>
                </a:rPr>
                <a:t>Truy cập từ xa (VPN): Cho nhân sự làm việc ngoài văn phòng</a:t>
              </a:r>
            </a:p>
          </p:txBody>
        </p:sp>
        <p:sp>
          <p:nvSpPr>
            <p:cNvPr name="AutoShape 10" id="10"/>
            <p:cNvSpPr/>
            <p:nvPr/>
          </p:nvSpPr>
          <p:spPr>
            <a:xfrm>
              <a:off x="0" y="2956967"/>
              <a:ext cx="11679379" cy="0"/>
            </a:xfrm>
            <a:prstGeom prst="line">
              <a:avLst/>
            </a:prstGeom>
            <a:ln cap="rnd" w="27290">
              <a:solidFill>
                <a:srgbClr val="10B5BF"/>
              </a:solidFill>
              <a:prstDash val="solid"/>
              <a:headEnd type="none" len="sm" w="sm"/>
              <a:tailEnd type="none" len="sm" w="sm"/>
            </a:ln>
          </p:spPr>
        </p:sp>
      </p:grpSp>
    </p:spTree>
  </p:cSld>
  <p:clrMapOvr>
    <a:masterClrMapping/>
  </p:clrMapOvr>
</p:sld>
</file>

<file path=ppt/slides/slide5.xml><?xml version="1.0" encoding="utf-8"?>
<p:sld xmlns:p="http://schemas.openxmlformats.org/presentationml/2006/main" xmlns:a="http://schemas.openxmlformats.org/drawingml/2006/main">
  <p:cSld>
    <p:bg>
      <p:bgPr>
        <a:solidFill>
          <a:srgbClr val="141414"/>
        </a:solidFill>
      </p:bgPr>
    </p:bg>
    <p:spTree>
      <p:nvGrpSpPr>
        <p:cNvPr id="1" name=""/>
        <p:cNvGrpSpPr/>
        <p:nvPr/>
      </p:nvGrpSpPr>
      <p:grpSpPr>
        <a:xfrm>
          <a:off x="0" y="0"/>
          <a:ext cx="0" cy="0"/>
          <a:chOff x="0" y="0"/>
          <a:chExt cx="0" cy="0"/>
        </a:xfrm>
      </p:grpSpPr>
      <p:sp>
        <p:nvSpPr>
          <p:cNvPr name="TextBox 2" id="2"/>
          <p:cNvSpPr txBox="true"/>
          <p:nvPr/>
        </p:nvSpPr>
        <p:spPr>
          <a:xfrm rot="0">
            <a:off x="1375885" y="1666763"/>
            <a:ext cx="15536230" cy="1152525"/>
          </a:xfrm>
          <a:prstGeom prst="rect">
            <a:avLst/>
          </a:prstGeom>
        </p:spPr>
        <p:txBody>
          <a:bodyPr anchor="t" rtlCol="false" tIns="0" lIns="0" bIns="0" rIns="0">
            <a:spAutoFit/>
          </a:bodyPr>
          <a:lstStyle/>
          <a:p>
            <a:pPr algn="l">
              <a:lnSpc>
                <a:spcPts val="9000"/>
              </a:lnSpc>
            </a:pPr>
            <a:r>
              <a:rPr lang="en-US" sz="7500" b="true">
                <a:solidFill>
                  <a:srgbClr val="FFFFFF"/>
                </a:solidFill>
                <a:latin typeface="Muli Semi-Bold"/>
                <a:ea typeface="Muli Semi-Bold"/>
                <a:cs typeface="Muli Semi-Bold"/>
                <a:sym typeface="Muli Semi-Bold"/>
              </a:rPr>
              <a:t>CÁC LOẠI DỮ LIỆU CẦN BẢO MẬT</a:t>
            </a:r>
          </a:p>
        </p:txBody>
      </p:sp>
      <p:grpSp>
        <p:nvGrpSpPr>
          <p:cNvPr name="Group 3" id="3"/>
          <p:cNvGrpSpPr/>
          <p:nvPr/>
        </p:nvGrpSpPr>
        <p:grpSpPr>
          <a:xfrm rot="0">
            <a:off x="411295" y="3801029"/>
            <a:ext cx="2635692" cy="5428142"/>
            <a:chOff x="0" y="0"/>
            <a:chExt cx="3514256" cy="7237523"/>
          </a:xfrm>
        </p:grpSpPr>
        <p:sp>
          <p:nvSpPr>
            <p:cNvPr name="TextBox 4" id="4"/>
            <p:cNvSpPr txBox="true"/>
            <p:nvPr/>
          </p:nvSpPr>
          <p:spPr>
            <a:xfrm rot="0">
              <a:off x="0" y="0"/>
              <a:ext cx="3514256" cy="609600"/>
            </a:xfrm>
            <a:prstGeom prst="rect">
              <a:avLst/>
            </a:prstGeom>
          </p:spPr>
          <p:txBody>
            <a:bodyPr anchor="t" rtlCol="false" tIns="0" lIns="0" bIns="0" rIns="0">
              <a:spAutoFit/>
            </a:bodyPr>
            <a:lstStyle/>
            <a:p>
              <a:pPr algn="l">
                <a:lnSpc>
                  <a:spcPts val="3600"/>
                </a:lnSpc>
              </a:pPr>
              <a:r>
                <a:rPr lang="en-US" sz="3000">
                  <a:solidFill>
                    <a:srgbClr val="FFFFFF"/>
                  </a:solidFill>
                  <a:latin typeface="Muli"/>
                  <a:ea typeface="Muli"/>
                  <a:cs typeface="Muli"/>
                  <a:sym typeface="Muli"/>
                </a:rPr>
                <a:t>CƠ SỞ</a:t>
              </a:r>
            </a:p>
          </p:txBody>
        </p:sp>
        <p:sp>
          <p:nvSpPr>
            <p:cNvPr name="AutoShape 5" id="5"/>
            <p:cNvSpPr/>
            <p:nvPr/>
          </p:nvSpPr>
          <p:spPr>
            <a:xfrm rot="0">
              <a:off x="0" y="1037254"/>
              <a:ext cx="3514256" cy="845861"/>
            </a:xfrm>
            <a:prstGeom prst="rect">
              <a:avLst/>
            </a:prstGeom>
            <a:solidFill>
              <a:srgbClr val="10B5BF"/>
            </a:solidFill>
          </p:spPr>
        </p:sp>
        <p:sp>
          <p:nvSpPr>
            <p:cNvPr name="TextBox 6" id="6"/>
            <p:cNvSpPr txBox="true"/>
            <p:nvPr/>
          </p:nvSpPr>
          <p:spPr>
            <a:xfrm rot="0">
              <a:off x="263344" y="1184806"/>
              <a:ext cx="2987568" cy="459952"/>
            </a:xfrm>
            <a:prstGeom prst="rect">
              <a:avLst/>
            </a:prstGeom>
          </p:spPr>
          <p:txBody>
            <a:bodyPr anchor="t" rtlCol="false" tIns="0" lIns="0" bIns="0" rIns="0">
              <a:spAutoFit/>
            </a:bodyPr>
            <a:lstStyle/>
            <a:p>
              <a:pPr algn="ctr">
                <a:lnSpc>
                  <a:spcPts val="2904"/>
                </a:lnSpc>
              </a:pPr>
              <a:r>
                <a:rPr lang="en-US" sz="2075">
                  <a:solidFill>
                    <a:srgbClr val="FFFFFF"/>
                  </a:solidFill>
                  <a:latin typeface="Muli Extra-Light"/>
                  <a:ea typeface="Muli Extra-Light"/>
                  <a:cs typeface="Muli Extra-Light"/>
                  <a:sym typeface="Muli Extra-Light"/>
                </a:rPr>
                <a:t>DỮ LIÊU</a:t>
              </a:r>
            </a:p>
          </p:txBody>
        </p:sp>
        <p:sp>
          <p:nvSpPr>
            <p:cNvPr name="TextBox 7" id="7"/>
            <p:cNvSpPr txBox="true"/>
            <p:nvPr/>
          </p:nvSpPr>
          <p:spPr>
            <a:xfrm rot="0">
              <a:off x="0" y="2282194"/>
              <a:ext cx="3514256" cy="4955328"/>
            </a:xfrm>
            <a:prstGeom prst="rect">
              <a:avLst/>
            </a:prstGeom>
          </p:spPr>
          <p:txBody>
            <a:bodyPr anchor="t" rtlCol="false" tIns="0" lIns="0" bIns="0" rIns="0">
              <a:spAutoFit/>
            </a:bodyPr>
            <a:lstStyle/>
            <a:p>
              <a:pPr algn="l" marL="329247" indent="-164623" lvl="1">
                <a:lnSpc>
                  <a:spcPts val="2134"/>
                </a:lnSpc>
                <a:buFont typeface="Arial"/>
                <a:buChar char="•"/>
              </a:pPr>
              <a:r>
                <a:rPr lang="en-US" sz="1524">
                  <a:solidFill>
                    <a:srgbClr val="FFFFFF"/>
                  </a:solidFill>
                  <a:latin typeface="Muli Extra-Light"/>
                  <a:ea typeface="Muli Extra-Light"/>
                  <a:cs typeface="Muli Extra-Light"/>
                  <a:sym typeface="Muli Extra-Light"/>
                </a:rPr>
                <a:t>Thông tin khách hàng: họ tên, số đ</a:t>
              </a:r>
              <a:r>
                <a:rPr lang="en-US" sz="1524">
                  <a:solidFill>
                    <a:srgbClr val="FFFFFF"/>
                  </a:solidFill>
                  <a:latin typeface="Muli Extra-Light"/>
                  <a:ea typeface="Muli Extra-Light"/>
                  <a:cs typeface="Muli Extra-Light"/>
                  <a:sym typeface="Muli Extra-Light"/>
                </a:rPr>
                <a:t>iện thoại, địa chỉ, mã số thuế...</a:t>
              </a:r>
            </a:p>
            <a:p>
              <a:pPr algn="l" marL="329247" indent="-164623" lvl="1">
                <a:lnSpc>
                  <a:spcPts val="2134"/>
                </a:lnSpc>
                <a:buFont typeface="Arial"/>
                <a:buChar char="•"/>
              </a:pPr>
              <a:r>
                <a:rPr lang="en-US" sz="1524">
                  <a:solidFill>
                    <a:srgbClr val="FFFFFF"/>
                  </a:solidFill>
                  <a:latin typeface="Muli Extra-Light"/>
                  <a:ea typeface="Muli Extra-Light"/>
                  <a:cs typeface="Muli Extra-Light"/>
                  <a:sym typeface="Muli Extra-Light"/>
                </a:rPr>
                <a:t>Đơn hàng, hợp đồng, hóa đơn: lưu trữ trong hệ thống ERP hoặc CRM.</a:t>
              </a:r>
            </a:p>
            <a:p>
              <a:pPr algn="l" marL="329248" indent="-164624" lvl="1">
                <a:lnSpc>
                  <a:spcPts val="2135"/>
                </a:lnSpc>
                <a:buFont typeface="Arial"/>
                <a:buChar char="•"/>
              </a:pPr>
              <a:r>
                <a:rPr lang="en-US" sz="1525">
                  <a:solidFill>
                    <a:srgbClr val="FFFFFF"/>
                  </a:solidFill>
                  <a:latin typeface="Muli Extra-Light"/>
                  <a:ea typeface="Muli Extra-Light"/>
                  <a:cs typeface="Muli Extra-Light"/>
                  <a:sym typeface="Muli Extra-Light"/>
                </a:rPr>
                <a:t>Dữ liệu lịch sử giao dịch, phân tích hành vi khách hàng.</a:t>
              </a:r>
            </a:p>
            <a:p>
              <a:pPr algn="l" marL="329247" indent="-164623" lvl="1">
                <a:lnSpc>
                  <a:spcPts val="2134"/>
                </a:lnSpc>
                <a:buFont typeface="Arial"/>
                <a:buChar char="•"/>
              </a:pPr>
              <a:r>
                <a:rPr lang="en-US" sz="1524">
                  <a:solidFill>
                    <a:srgbClr val="FFFFFF"/>
                  </a:solidFill>
                  <a:latin typeface="Muli Extra-Light"/>
                  <a:ea typeface="Muli Extra-Light"/>
                  <a:cs typeface="Muli Extra-Light"/>
                  <a:sym typeface="Muli Extra-Light"/>
                </a:rPr>
                <a:t>Cần bảo vệ bằng cơ chế phân quyền, mã hóa dữ liệu và thường xuyên sao lưu.</a:t>
              </a:r>
            </a:p>
            <a:p>
              <a:pPr algn="l">
                <a:lnSpc>
                  <a:spcPts val="2135"/>
                </a:lnSpc>
              </a:pPr>
            </a:p>
          </p:txBody>
        </p:sp>
      </p:grpSp>
      <p:grpSp>
        <p:nvGrpSpPr>
          <p:cNvPr name="Group 8" id="8"/>
          <p:cNvGrpSpPr/>
          <p:nvPr/>
        </p:nvGrpSpPr>
        <p:grpSpPr>
          <a:xfrm rot="0">
            <a:off x="3342262" y="3652439"/>
            <a:ext cx="2635692" cy="5685317"/>
            <a:chOff x="0" y="0"/>
            <a:chExt cx="3514256" cy="7580423"/>
          </a:xfrm>
        </p:grpSpPr>
        <p:sp>
          <p:nvSpPr>
            <p:cNvPr name="TextBox 9" id="9"/>
            <p:cNvSpPr txBox="true"/>
            <p:nvPr/>
          </p:nvSpPr>
          <p:spPr>
            <a:xfrm rot="0">
              <a:off x="0" y="0"/>
              <a:ext cx="3514256" cy="609600"/>
            </a:xfrm>
            <a:prstGeom prst="rect">
              <a:avLst/>
            </a:prstGeom>
          </p:spPr>
          <p:txBody>
            <a:bodyPr anchor="t" rtlCol="false" tIns="0" lIns="0" bIns="0" rIns="0">
              <a:spAutoFit/>
            </a:bodyPr>
            <a:lstStyle/>
            <a:p>
              <a:pPr algn="l">
                <a:lnSpc>
                  <a:spcPts val="3600"/>
                </a:lnSpc>
              </a:pPr>
              <a:r>
                <a:rPr lang="en-US" sz="3000">
                  <a:solidFill>
                    <a:srgbClr val="FFFFFF"/>
                  </a:solidFill>
                  <a:latin typeface="Muli"/>
                  <a:ea typeface="Muli"/>
                  <a:cs typeface="Muli"/>
                  <a:sym typeface="Muli"/>
                </a:rPr>
                <a:t>TÀI LIỆU </a:t>
              </a:r>
            </a:p>
          </p:txBody>
        </p:sp>
        <p:sp>
          <p:nvSpPr>
            <p:cNvPr name="AutoShape 10" id="10"/>
            <p:cNvSpPr/>
            <p:nvPr/>
          </p:nvSpPr>
          <p:spPr>
            <a:xfrm rot="0">
              <a:off x="0" y="1037254"/>
              <a:ext cx="3514256" cy="845861"/>
            </a:xfrm>
            <a:prstGeom prst="rect">
              <a:avLst/>
            </a:prstGeom>
            <a:solidFill>
              <a:srgbClr val="10B5BF"/>
            </a:solidFill>
          </p:spPr>
        </p:sp>
        <p:sp>
          <p:nvSpPr>
            <p:cNvPr name="TextBox 11" id="11"/>
            <p:cNvSpPr txBox="true"/>
            <p:nvPr/>
          </p:nvSpPr>
          <p:spPr>
            <a:xfrm rot="0">
              <a:off x="263344" y="1184806"/>
              <a:ext cx="2987568" cy="459952"/>
            </a:xfrm>
            <a:prstGeom prst="rect">
              <a:avLst/>
            </a:prstGeom>
          </p:spPr>
          <p:txBody>
            <a:bodyPr anchor="t" rtlCol="false" tIns="0" lIns="0" bIns="0" rIns="0">
              <a:spAutoFit/>
            </a:bodyPr>
            <a:lstStyle/>
            <a:p>
              <a:pPr algn="ctr">
                <a:lnSpc>
                  <a:spcPts val="2904"/>
                </a:lnSpc>
              </a:pPr>
              <a:r>
                <a:rPr lang="en-US" sz="2075">
                  <a:solidFill>
                    <a:srgbClr val="FFFFFF"/>
                  </a:solidFill>
                  <a:latin typeface="Muli Extra-Light"/>
                  <a:ea typeface="Muli Extra-Light"/>
                  <a:cs typeface="Muli Extra-Light"/>
                  <a:sym typeface="Muli Extra-Light"/>
                </a:rPr>
                <a:t>NỘI BỘ</a:t>
              </a:r>
            </a:p>
          </p:txBody>
        </p:sp>
        <p:sp>
          <p:nvSpPr>
            <p:cNvPr name="TextBox 12" id="12"/>
            <p:cNvSpPr txBox="true"/>
            <p:nvPr/>
          </p:nvSpPr>
          <p:spPr>
            <a:xfrm rot="0">
              <a:off x="0" y="2272669"/>
              <a:ext cx="3514256" cy="5307753"/>
            </a:xfrm>
            <a:prstGeom prst="rect">
              <a:avLst/>
            </a:prstGeom>
          </p:spPr>
          <p:txBody>
            <a:bodyPr anchor="t" rtlCol="false" tIns="0" lIns="0" bIns="0" rIns="0">
              <a:spAutoFit/>
            </a:bodyPr>
            <a:lstStyle/>
            <a:p>
              <a:pPr algn="l" marL="410209" indent="-205105" lvl="1">
                <a:lnSpc>
                  <a:spcPts val="2659"/>
                </a:lnSpc>
                <a:buFont typeface="Arial"/>
                <a:buChar char="•"/>
              </a:pPr>
              <a:r>
                <a:rPr lang="en-US" sz="1899">
                  <a:solidFill>
                    <a:srgbClr val="FFFFFF"/>
                  </a:solidFill>
                  <a:latin typeface="Muli Extra-Light"/>
                  <a:ea typeface="Muli Extra-Light"/>
                  <a:cs typeface="Muli Extra-Light"/>
                  <a:sym typeface="Muli Extra-Light"/>
                </a:rPr>
                <a:t>Quy trình nội bộ, chính sách công ty, tài liệu đào tạo.</a:t>
              </a:r>
            </a:p>
            <a:p>
              <a:pPr algn="l" marL="410209" indent="-205105" lvl="1">
                <a:lnSpc>
                  <a:spcPts val="2659"/>
                </a:lnSpc>
                <a:buFont typeface="Arial"/>
                <a:buChar char="•"/>
              </a:pPr>
              <a:r>
                <a:rPr lang="en-US" sz="1899">
                  <a:solidFill>
                    <a:srgbClr val="FFFFFF"/>
                  </a:solidFill>
                  <a:latin typeface="Muli Extra-Light"/>
                  <a:ea typeface="Muli Extra-Light"/>
                  <a:cs typeface="Muli Extra-Light"/>
                  <a:sym typeface="Muli Extra-Light"/>
                </a:rPr>
                <a:t>Báo cáo tài chính, kế hoạch chiến lược, hồ sơ dự án.</a:t>
              </a:r>
            </a:p>
            <a:p>
              <a:pPr algn="l" marL="410209" indent="-205105" lvl="1">
                <a:lnSpc>
                  <a:spcPts val="2659"/>
                </a:lnSpc>
                <a:buFont typeface="Arial"/>
                <a:buChar char="•"/>
              </a:pPr>
              <a:r>
                <a:rPr lang="en-US" sz="1899">
                  <a:solidFill>
                    <a:srgbClr val="FFFFFF"/>
                  </a:solidFill>
                  <a:latin typeface="Muli Extra-Light"/>
                  <a:ea typeface="Muli Extra-Light"/>
                  <a:cs typeface="Muli Extra-Light"/>
                  <a:sym typeface="Muli Extra-Light"/>
                </a:rPr>
                <a:t>Lưu trữ trong máy chủ nội bộ (file server), áp dụng truy cập phân quyền theo phòng ban.</a:t>
              </a:r>
            </a:p>
            <a:p>
              <a:pPr algn="l">
                <a:lnSpc>
                  <a:spcPts val="2660"/>
                </a:lnSpc>
              </a:pPr>
            </a:p>
          </p:txBody>
        </p:sp>
      </p:grpSp>
      <p:grpSp>
        <p:nvGrpSpPr>
          <p:cNvPr name="Group 13" id="13"/>
          <p:cNvGrpSpPr/>
          <p:nvPr/>
        </p:nvGrpSpPr>
        <p:grpSpPr>
          <a:xfrm rot="0">
            <a:off x="6273228" y="3652439"/>
            <a:ext cx="2811674" cy="5746912"/>
            <a:chOff x="0" y="0"/>
            <a:chExt cx="3748898" cy="7662550"/>
          </a:xfrm>
        </p:grpSpPr>
        <p:sp>
          <p:nvSpPr>
            <p:cNvPr name="TextBox 14" id="14"/>
            <p:cNvSpPr txBox="true"/>
            <p:nvPr/>
          </p:nvSpPr>
          <p:spPr>
            <a:xfrm rot="0">
              <a:off x="0" y="0"/>
              <a:ext cx="3748898" cy="609600"/>
            </a:xfrm>
            <a:prstGeom prst="rect">
              <a:avLst/>
            </a:prstGeom>
          </p:spPr>
          <p:txBody>
            <a:bodyPr anchor="t" rtlCol="false" tIns="0" lIns="0" bIns="0" rIns="0">
              <a:spAutoFit/>
            </a:bodyPr>
            <a:lstStyle/>
            <a:p>
              <a:pPr algn="l">
                <a:lnSpc>
                  <a:spcPts val="3600"/>
                </a:lnSpc>
              </a:pPr>
              <a:r>
                <a:rPr lang="en-US" sz="3000">
                  <a:solidFill>
                    <a:srgbClr val="FFFFFF"/>
                  </a:solidFill>
                  <a:latin typeface="Muli"/>
                  <a:ea typeface="Muli"/>
                  <a:cs typeface="Muli"/>
                  <a:sym typeface="Muli"/>
                </a:rPr>
                <a:t>EMAIL </a:t>
              </a:r>
            </a:p>
          </p:txBody>
        </p:sp>
        <p:sp>
          <p:nvSpPr>
            <p:cNvPr name="AutoShape 15" id="15"/>
            <p:cNvSpPr/>
            <p:nvPr/>
          </p:nvSpPr>
          <p:spPr>
            <a:xfrm rot="0">
              <a:off x="0" y="1646854"/>
              <a:ext cx="3748898" cy="845861"/>
            </a:xfrm>
            <a:prstGeom prst="rect">
              <a:avLst/>
            </a:prstGeom>
            <a:solidFill>
              <a:srgbClr val="10B5BF"/>
            </a:solidFill>
          </p:spPr>
        </p:sp>
        <p:sp>
          <p:nvSpPr>
            <p:cNvPr name="TextBox 16" id="16"/>
            <p:cNvSpPr txBox="true"/>
            <p:nvPr/>
          </p:nvSpPr>
          <p:spPr>
            <a:xfrm rot="0">
              <a:off x="280927" y="1794406"/>
              <a:ext cx="3187045" cy="459952"/>
            </a:xfrm>
            <a:prstGeom prst="rect">
              <a:avLst/>
            </a:prstGeom>
          </p:spPr>
          <p:txBody>
            <a:bodyPr anchor="t" rtlCol="false" tIns="0" lIns="0" bIns="0" rIns="0">
              <a:spAutoFit/>
            </a:bodyPr>
            <a:lstStyle/>
            <a:p>
              <a:pPr algn="l">
                <a:lnSpc>
                  <a:spcPts val="2904"/>
                </a:lnSpc>
              </a:pPr>
              <a:r>
                <a:rPr lang="en-US" sz="2075">
                  <a:solidFill>
                    <a:srgbClr val="FFFFFF"/>
                  </a:solidFill>
                  <a:latin typeface="Muli Extra-Light"/>
                  <a:ea typeface="Muli Extra-Light"/>
                  <a:cs typeface="Muli Extra-Light"/>
                  <a:sym typeface="Muli Extra-Light"/>
                </a:rPr>
                <a:t>DOANH NGHIỆP</a:t>
              </a:r>
            </a:p>
          </p:txBody>
        </p:sp>
        <p:sp>
          <p:nvSpPr>
            <p:cNvPr name="TextBox 17" id="17"/>
            <p:cNvSpPr txBox="true"/>
            <p:nvPr/>
          </p:nvSpPr>
          <p:spPr>
            <a:xfrm rot="0">
              <a:off x="0" y="2882269"/>
              <a:ext cx="3748898" cy="4780280"/>
            </a:xfrm>
            <a:prstGeom prst="rect">
              <a:avLst/>
            </a:prstGeom>
          </p:spPr>
          <p:txBody>
            <a:bodyPr anchor="t" rtlCol="false" tIns="0" lIns="0" bIns="0" rIns="0">
              <a:spAutoFit/>
            </a:bodyPr>
            <a:lstStyle/>
            <a:p>
              <a:pPr algn="l" marL="415605" indent="-207802" lvl="1">
                <a:lnSpc>
                  <a:spcPts val="2694"/>
                </a:lnSpc>
                <a:buFont typeface="Arial"/>
                <a:buChar char="•"/>
              </a:pPr>
              <a:r>
                <a:rPr lang="en-US" sz="1924">
                  <a:solidFill>
                    <a:srgbClr val="FFFFFF"/>
                  </a:solidFill>
                  <a:latin typeface="Muli Extra-Light"/>
                  <a:ea typeface="Muli Extra-Light"/>
                  <a:cs typeface="Muli Extra-Light"/>
                  <a:sym typeface="Muli Extra-Light"/>
                </a:rPr>
                <a:t>Thư</a:t>
              </a:r>
              <a:r>
                <a:rPr lang="en-US" sz="1924">
                  <a:solidFill>
                    <a:srgbClr val="FFFFFF"/>
                  </a:solidFill>
                  <a:latin typeface="Muli Extra-Light"/>
                  <a:ea typeface="Muli Extra-Light"/>
                  <a:cs typeface="Muli Extra-Light"/>
                  <a:sym typeface="Muli Extra-Light"/>
                </a:rPr>
                <a:t> từ nội bộ và đối tác, khách hàng.</a:t>
              </a:r>
            </a:p>
            <a:p>
              <a:pPr algn="l" marL="415605" indent="-207802" lvl="1">
                <a:lnSpc>
                  <a:spcPts val="2694"/>
                </a:lnSpc>
                <a:buFont typeface="Arial"/>
                <a:buChar char="•"/>
              </a:pPr>
              <a:r>
                <a:rPr lang="en-US" sz="1924">
                  <a:solidFill>
                    <a:srgbClr val="FFFFFF"/>
                  </a:solidFill>
                  <a:latin typeface="Muli Extra-Light"/>
                  <a:ea typeface="Muli Extra-Light"/>
                  <a:cs typeface="Muli Extra-Light"/>
                  <a:sym typeface="Muli Extra-Light"/>
                </a:rPr>
                <a:t>Thông tin nhạy cảm như hợp đồng, báo giá, mật khẩu…</a:t>
              </a:r>
            </a:p>
            <a:p>
              <a:pPr algn="l" marL="415605" indent="-207802" lvl="1">
                <a:lnSpc>
                  <a:spcPts val="2694"/>
                </a:lnSpc>
                <a:buFont typeface="Arial"/>
                <a:buChar char="•"/>
              </a:pPr>
              <a:r>
                <a:rPr lang="en-US" sz="1924">
                  <a:solidFill>
                    <a:srgbClr val="FFFFFF"/>
                  </a:solidFill>
                  <a:latin typeface="Muli Extra-Light"/>
                  <a:ea typeface="Muli Extra-Light"/>
                  <a:cs typeface="Muli Extra-Light"/>
                  <a:sym typeface="Muli Extra-Light"/>
                </a:rPr>
                <a:t>Cần triển khai mã hóa email, bảo vệ chống phishing và chính sách lưu trữ email an toàn.</a:t>
              </a:r>
            </a:p>
            <a:p>
              <a:pPr algn="l">
                <a:lnSpc>
                  <a:spcPts val="2135"/>
                </a:lnSpc>
              </a:pPr>
            </a:p>
          </p:txBody>
        </p:sp>
      </p:grpSp>
      <p:grpSp>
        <p:nvGrpSpPr>
          <p:cNvPr name="Group 18" id="18"/>
          <p:cNvGrpSpPr/>
          <p:nvPr/>
        </p:nvGrpSpPr>
        <p:grpSpPr>
          <a:xfrm rot="0">
            <a:off x="9380177" y="3652439"/>
            <a:ext cx="2635692" cy="6220622"/>
            <a:chOff x="0" y="0"/>
            <a:chExt cx="3514256" cy="8294163"/>
          </a:xfrm>
        </p:grpSpPr>
        <p:sp>
          <p:nvSpPr>
            <p:cNvPr name="TextBox 19" id="19"/>
            <p:cNvSpPr txBox="true"/>
            <p:nvPr/>
          </p:nvSpPr>
          <p:spPr>
            <a:xfrm rot="0">
              <a:off x="0" y="0"/>
              <a:ext cx="3514256" cy="609600"/>
            </a:xfrm>
            <a:prstGeom prst="rect">
              <a:avLst/>
            </a:prstGeom>
          </p:spPr>
          <p:txBody>
            <a:bodyPr anchor="t" rtlCol="false" tIns="0" lIns="0" bIns="0" rIns="0">
              <a:spAutoFit/>
            </a:bodyPr>
            <a:lstStyle/>
            <a:p>
              <a:pPr algn="l">
                <a:lnSpc>
                  <a:spcPts val="3600"/>
                </a:lnSpc>
              </a:pPr>
              <a:r>
                <a:rPr lang="en-US" sz="3000">
                  <a:solidFill>
                    <a:srgbClr val="FFFFFF"/>
                  </a:solidFill>
                  <a:latin typeface="Muli"/>
                  <a:ea typeface="Muli"/>
                  <a:cs typeface="Muli"/>
                  <a:sym typeface="Muli"/>
                </a:rPr>
                <a:t>DỮ LIỆU</a:t>
              </a:r>
            </a:p>
          </p:txBody>
        </p:sp>
        <p:sp>
          <p:nvSpPr>
            <p:cNvPr name="AutoShape 20" id="20"/>
            <p:cNvSpPr/>
            <p:nvPr/>
          </p:nvSpPr>
          <p:spPr>
            <a:xfrm rot="0">
              <a:off x="0" y="1037254"/>
              <a:ext cx="3514256" cy="845861"/>
            </a:xfrm>
            <a:prstGeom prst="rect">
              <a:avLst/>
            </a:prstGeom>
            <a:solidFill>
              <a:srgbClr val="10B5BF"/>
            </a:solidFill>
          </p:spPr>
        </p:sp>
        <p:sp>
          <p:nvSpPr>
            <p:cNvPr name="TextBox 21" id="21"/>
            <p:cNvSpPr txBox="true"/>
            <p:nvPr/>
          </p:nvSpPr>
          <p:spPr>
            <a:xfrm rot="0">
              <a:off x="263344" y="1184806"/>
              <a:ext cx="2987568" cy="459952"/>
            </a:xfrm>
            <a:prstGeom prst="rect">
              <a:avLst/>
            </a:prstGeom>
          </p:spPr>
          <p:txBody>
            <a:bodyPr anchor="t" rtlCol="false" tIns="0" lIns="0" bIns="0" rIns="0">
              <a:spAutoFit/>
            </a:bodyPr>
            <a:lstStyle/>
            <a:p>
              <a:pPr algn="ctr">
                <a:lnSpc>
                  <a:spcPts val="2904"/>
                </a:lnSpc>
              </a:pPr>
              <a:r>
                <a:rPr lang="en-US" sz="2075">
                  <a:solidFill>
                    <a:srgbClr val="FFFFFF"/>
                  </a:solidFill>
                  <a:latin typeface="Muli Extra-Light"/>
                  <a:ea typeface="Muli Extra-Light"/>
                  <a:cs typeface="Muli Extra-Light"/>
                  <a:sym typeface="Muli Extra-Light"/>
                </a:rPr>
                <a:t>NHÂN SỰ</a:t>
              </a:r>
            </a:p>
          </p:txBody>
        </p:sp>
        <p:sp>
          <p:nvSpPr>
            <p:cNvPr name="TextBox 22" id="22"/>
            <p:cNvSpPr txBox="true"/>
            <p:nvPr/>
          </p:nvSpPr>
          <p:spPr>
            <a:xfrm rot="0">
              <a:off x="0" y="2282194"/>
              <a:ext cx="3514256" cy="6011968"/>
            </a:xfrm>
            <a:prstGeom prst="rect">
              <a:avLst/>
            </a:prstGeom>
          </p:spPr>
          <p:txBody>
            <a:bodyPr anchor="t" rtlCol="false" tIns="0" lIns="0" bIns="0" rIns="0">
              <a:spAutoFit/>
            </a:bodyPr>
            <a:lstStyle/>
            <a:p>
              <a:pPr algn="l" marL="394017" indent="-197008" lvl="1">
                <a:lnSpc>
                  <a:spcPts val="2554"/>
                </a:lnSpc>
                <a:buFont typeface="Arial"/>
                <a:buChar char="•"/>
              </a:pPr>
              <a:r>
                <a:rPr lang="en-US" sz="1824">
                  <a:solidFill>
                    <a:srgbClr val="FFFFFF"/>
                  </a:solidFill>
                  <a:latin typeface="Muli Extra-Light"/>
                  <a:ea typeface="Muli Extra-Light"/>
                  <a:cs typeface="Muli Extra-Light"/>
                  <a:sym typeface="Muli Extra-Light"/>
                </a:rPr>
                <a:t>Thông tin cá nhân nhân viên: hồ sơ, CMND/CCCD, thông tin liên hệ, hợp đồng lao động.</a:t>
              </a:r>
            </a:p>
            <a:p>
              <a:pPr algn="l" marL="394017" indent="-197008" lvl="1">
                <a:lnSpc>
                  <a:spcPts val="2554"/>
                </a:lnSpc>
                <a:buFont typeface="Arial"/>
                <a:buChar char="•"/>
              </a:pPr>
              <a:r>
                <a:rPr lang="en-US" sz="1824">
                  <a:solidFill>
                    <a:srgbClr val="FFFFFF"/>
                  </a:solidFill>
                  <a:latin typeface="Muli Extra-Light"/>
                  <a:ea typeface="Muli Extra-Light"/>
                  <a:cs typeface="Muli Extra-Light"/>
                  <a:sym typeface="Muli Extra-Light"/>
                </a:rPr>
                <a:t>Lịch sử làm việc, đánh giá hiệu suất, hồ sơ nghỉ phép.</a:t>
              </a:r>
            </a:p>
            <a:p>
              <a:pPr algn="l" marL="394017" indent="-197008" lvl="1">
                <a:lnSpc>
                  <a:spcPts val="2554"/>
                </a:lnSpc>
                <a:buFont typeface="Arial"/>
                <a:buChar char="•"/>
              </a:pPr>
              <a:r>
                <a:rPr lang="en-US" sz="1824">
                  <a:solidFill>
                    <a:srgbClr val="FFFFFF"/>
                  </a:solidFill>
                  <a:latin typeface="Muli Extra-Light"/>
                  <a:ea typeface="Muli Extra-Light"/>
                  <a:cs typeface="Muli Extra-Light"/>
                  <a:sym typeface="Muli Extra-Light"/>
                </a:rPr>
                <a:t>Bảo vệ thông qua hệ thống HRM có xác thực chặt chẽ, truy cập phân quyền theo vai trò.</a:t>
              </a:r>
            </a:p>
            <a:p>
              <a:pPr algn="l">
                <a:lnSpc>
                  <a:spcPts val="2554"/>
                </a:lnSpc>
              </a:pPr>
            </a:p>
          </p:txBody>
        </p:sp>
      </p:grpSp>
      <p:grpSp>
        <p:nvGrpSpPr>
          <p:cNvPr name="Group 23" id="23"/>
          <p:cNvGrpSpPr/>
          <p:nvPr/>
        </p:nvGrpSpPr>
        <p:grpSpPr>
          <a:xfrm rot="0">
            <a:off x="12311144" y="3652439"/>
            <a:ext cx="2635143" cy="6018692"/>
            <a:chOff x="0" y="0"/>
            <a:chExt cx="3513524" cy="8024923"/>
          </a:xfrm>
        </p:grpSpPr>
        <p:sp>
          <p:nvSpPr>
            <p:cNvPr name="TextBox 24" id="24"/>
            <p:cNvSpPr txBox="true"/>
            <p:nvPr/>
          </p:nvSpPr>
          <p:spPr>
            <a:xfrm rot="0">
              <a:off x="0" y="0"/>
              <a:ext cx="3513524" cy="609600"/>
            </a:xfrm>
            <a:prstGeom prst="rect">
              <a:avLst/>
            </a:prstGeom>
          </p:spPr>
          <p:txBody>
            <a:bodyPr anchor="t" rtlCol="false" tIns="0" lIns="0" bIns="0" rIns="0">
              <a:spAutoFit/>
            </a:bodyPr>
            <a:lstStyle/>
            <a:p>
              <a:pPr algn="l">
                <a:lnSpc>
                  <a:spcPts val="3600"/>
                </a:lnSpc>
              </a:pPr>
              <a:r>
                <a:rPr lang="en-US" sz="3000">
                  <a:solidFill>
                    <a:srgbClr val="FFFFFF"/>
                  </a:solidFill>
                  <a:latin typeface="Muli"/>
                  <a:ea typeface="Muli"/>
                  <a:cs typeface="Muli"/>
                  <a:sym typeface="Muli"/>
                </a:rPr>
                <a:t>DỮ LIỆU</a:t>
              </a:r>
            </a:p>
          </p:txBody>
        </p:sp>
        <p:sp>
          <p:nvSpPr>
            <p:cNvPr name="AutoShape 25" id="25"/>
            <p:cNvSpPr/>
            <p:nvPr/>
          </p:nvSpPr>
          <p:spPr>
            <a:xfrm rot="0">
              <a:off x="0" y="1037254"/>
              <a:ext cx="3513524" cy="845861"/>
            </a:xfrm>
            <a:prstGeom prst="rect">
              <a:avLst/>
            </a:prstGeom>
            <a:solidFill>
              <a:srgbClr val="10B5BF"/>
            </a:solidFill>
          </p:spPr>
        </p:sp>
        <p:sp>
          <p:nvSpPr>
            <p:cNvPr name="TextBox 26" id="26"/>
            <p:cNvSpPr txBox="true"/>
            <p:nvPr/>
          </p:nvSpPr>
          <p:spPr>
            <a:xfrm rot="0">
              <a:off x="263289" y="1184806"/>
              <a:ext cx="2986947" cy="503132"/>
            </a:xfrm>
            <a:prstGeom prst="rect">
              <a:avLst/>
            </a:prstGeom>
          </p:spPr>
          <p:txBody>
            <a:bodyPr anchor="t" rtlCol="false" tIns="0" lIns="0" bIns="0" rIns="0">
              <a:spAutoFit/>
            </a:bodyPr>
            <a:lstStyle/>
            <a:p>
              <a:pPr algn="ctr">
                <a:lnSpc>
                  <a:spcPts val="3219"/>
                </a:lnSpc>
              </a:pPr>
              <a:r>
                <a:rPr lang="en-US" sz="2300">
                  <a:solidFill>
                    <a:srgbClr val="FFFFFF"/>
                  </a:solidFill>
                  <a:latin typeface="Muli Extra-Light"/>
                  <a:ea typeface="Muli Extra-Light"/>
                  <a:cs typeface="Muli Extra-Light"/>
                  <a:sym typeface="Muli Extra-Light"/>
                </a:rPr>
                <a:t>QUẢN LÍ </a:t>
              </a:r>
            </a:p>
          </p:txBody>
        </p:sp>
        <p:sp>
          <p:nvSpPr>
            <p:cNvPr name="TextBox 27" id="27"/>
            <p:cNvSpPr txBox="true"/>
            <p:nvPr/>
          </p:nvSpPr>
          <p:spPr>
            <a:xfrm rot="0">
              <a:off x="0" y="2272669"/>
              <a:ext cx="3513524" cy="5752253"/>
            </a:xfrm>
            <a:prstGeom prst="rect">
              <a:avLst/>
            </a:prstGeom>
          </p:spPr>
          <p:txBody>
            <a:bodyPr anchor="t" rtlCol="false" tIns="0" lIns="0" bIns="0" rIns="0">
              <a:spAutoFit/>
            </a:bodyPr>
            <a:lstStyle/>
            <a:p>
              <a:pPr algn="l" marL="410209" indent="-205105" lvl="1">
                <a:lnSpc>
                  <a:spcPts val="2659"/>
                </a:lnSpc>
                <a:buFont typeface="Arial"/>
                <a:buChar char="•"/>
              </a:pPr>
              <a:r>
                <a:rPr lang="en-US" sz="1899">
                  <a:solidFill>
                    <a:srgbClr val="FFFFFF"/>
                  </a:solidFill>
                  <a:latin typeface="Muli Extra-Light"/>
                  <a:ea typeface="Muli Extra-Light"/>
                  <a:cs typeface="Muli Extra-Light"/>
                  <a:sym typeface="Muli Extra-Light"/>
                </a:rPr>
                <a:t>Nhật ký truy cập hệ thống (logs): giúp theo dõi các hành vi bất thường và phát hiện xâm nhập.</a:t>
              </a:r>
            </a:p>
            <a:p>
              <a:pPr algn="l" marL="410209" indent="-205105" lvl="1">
                <a:lnSpc>
                  <a:spcPts val="2659"/>
                </a:lnSpc>
                <a:buFont typeface="Arial"/>
                <a:buChar char="•"/>
              </a:pPr>
              <a:r>
                <a:rPr lang="en-US" sz="1899">
                  <a:solidFill>
                    <a:srgbClr val="FFFFFF"/>
                  </a:solidFill>
                  <a:latin typeface="Muli Extra-Light"/>
                  <a:ea typeface="Muli Extra-Light"/>
                  <a:cs typeface="Muli Extra-Light"/>
                  <a:sym typeface="Muli Extra-Light"/>
                </a:rPr>
                <a:t>Thông tin cấu hình thiết bị mạng, máy chủ.</a:t>
              </a:r>
            </a:p>
            <a:p>
              <a:pPr algn="l" marL="410209" indent="-205105" lvl="1">
                <a:lnSpc>
                  <a:spcPts val="2659"/>
                </a:lnSpc>
                <a:buFont typeface="Arial"/>
                <a:buChar char="•"/>
              </a:pPr>
              <a:r>
                <a:rPr lang="en-US" sz="1899">
                  <a:solidFill>
                    <a:srgbClr val="FFFFFF"/>
                  </a:solidFill>
                  <a:latin typeface="Muli Extra-Light"/>
                  <a:ea typeface="Muli Extra-Light"/>
                  <a:cs typeface="Muli Extra-Light"/>
                  <a:sym typeface="Muli Extra-Light"/>
                </a:rPr>
                <a:t>Cần lưu trữ an toàn và bảo vệ tránh bị chỉnh sửa hoặc xóa trái phép.</a:t>
              </a:r>
            </a:p>
            <a:p>
              <a:pPr algn="l">
                <a:lnSpc>
                  <a:spcPts val="2660"/>
                </a:lnSpc>
              </a:pPr>
            </a:p>
          </p:txBody>
        </p:sp>
      </p:grpSp>
      <p:grpSp>
        <p:nvGrpSpPr>
          <p:cNvPr name="Group 28" id="28"/>
          <p:cNvGrpSpPr/>
          <p:nvPr/>
        </p:nvGrpSpPr>
        <p:grpSpPr>
          <a:xfrm rot="0">
            <a:off x="15241562" y="3616244"/>
            <a:ext cx="2635143" cy="5018567"/>
            <a:chOff x="0" y="0"/>
            <a:chExt cx="3513524" cy="6691423"/>
          </a:xfrm>
        </p:grpSpPr>
        <p:sp>
          <p:nvSpPr>
            <p:cNvPr name="TextBox 29" id="29"/>
            <p:cNvSpPr txBox="true"/>
            <p:nvPr/>
          </p:nvSpPr>
          <p:spPr>
            <a:xfrm rot="0">
              <a:off x="0" y="0"/>
              <a:ext cx="3513524" cy="609600"/>
            </a:xfrm>
            <a:prstGeom prst="rect">
              <a:avLst/>
            </a:prstGeom>
          </p:spPr>
          <p:txBody>
            <a:bodyPr anchor="t" rtlCol="false" tIns="0" lIns="0" bIns="0" rIns="0">
              <a:spAutoFit/>
            </a:bodyPr>
            <a:lstStyle/>
            <a:p>
              <a:pPr algn="l">
                <a:lnSpc>
                  <a:spcPts val="3600"/>
                </a:lnSpc>
              </a:pPr>
              <a:r>
                <a:rPr lang="en-US" sz="3000">
                  <a:solidFill>
                    <a:srgbClr val="FFFFFF"/>
                  </a:solidFill>
                  <a:latin typeface="Muli"/>
                  <a:ea typeface="Muli"/>
                  <a:cs typeface="Muli"/>
                  <a:sym typeface="Muli"/>
                </a:rPr>
                <a:t>DỮ LIỆU</a:t>
              </a:r>
            </a:p>
          </p:txBody>
        </p:sp>
        <p:sp>
          <p:nvSpPr>
            <p:cNvPr name="AutoShape 30" id="30"/>
            <p:cNvSpPr/>
            <p:nvPr/>
          </p:nvSpPr>
          <p:spPr>
            <a:xfrm rot="0">
              <a:off x="0" y="1037254"/>
              <a:ext cx="3513524" cy="845861"/>
            </a:xfrm>
            <a:prstGeom prst="rect">
              <a:avLst/>
            </a:prstGeom>
            <a:solidFill>
              <a:srgbClr val="10B5BF"/>
            </a:solidFill>
          </p:spPr>
        </p:sp>
        <p:sp>
          <p:nvSpPr>
            <p:cNvPr name="TextBox 31" id="31"/>
            <p:cNvSpPr txBox="true"/>
            <p:nvPr/>
          </p:nvSpPr>
          <p:spPr>
            <a:xfrm rot="0">
              <a:off x="263289" y="1184806"/>
              <a:ext cx="2986947" cy="503132"/>
            </a:xfrm>
            <a:prstGeom prst="rect">
              <a:avLst/>
            </a:prstGeom>
          </p:spPr>
          <p:txBody>
            <a:bodyPr anchor="t" rtlCol="false" tIns="0" lIns="0" bIns="0" rIns="0">
              <a:spAutoFit/>
            </a:bodyPr>
            <a:lstStyle/>
            <a:p>
              <a:pPr algn="ctr">
                <a:lnSpc>
                  <a:spcPts val="3219"/>
                </a:lnSpc>
              </a:pPr>
              <a:r>
                <a:rPr lang="en-US" sz="2300">
                  <a:solidFill>
                    <a:srgbClr val="FFFFFF"/>
                  </a:solidFill>
                  <a:latin typeface="Muli Extra-Light"/>
                  <a:ea typeface="Muli Extra-Light"/>
                  <a:cs typeface="Muli Extra-Light"/>
                  <a:sym typeface="Muli Extra-Light"/>
                </a:rPr>
                <a:t>SAO LƯU</a:t>
              </a:r>
            </a:p>
          </p:txBody>
        </p:sp>
        <p:sp>
          <p:nvSpPr>
            <p:cNvPr name="TextBox 32" id="32"/>
            <p:cNvSpPr txBox="true"/>
            <p:nvPr/>
          </p:nvSpPr>
          <p:spPr>
            <a:xfrm rot="0">
              <a:off x="0" y="2272669"/>
              <a:ext cx="3513524" cy="4418753"/>
            </a:xfrm>
            <a:prstGeom prst="rect">
              <a:avLst/>
            </a:prstGeom>
          </p:spPr>
          <p:txBody>
            <a:bodyPr anchor="t" rtlCol="false" tIns="0" lIns="0" bIns="0" rIns="0">
              <a:spAutoFit/>
            </a:bodyPr>
            <a:lstStyle/>
            <a:p>
              <a:pPr algn="l" marL="410209" indent="-205105" lvl="1">
                <a:lnSpc>
                  <a:spcPts val="2659"/>
                </a:lnSpc>
                <a:buFont typeface="Arial"/>
                <a:buChar char="•"/>
              </a:pPr>
              <a:r>
                <a:rPr lang="en-US" sz="1899">
                  <a:solidFill>
                    <a:srgbClr val="FFFFFF"/>
                  </a:solidFill>
                  <a:latin typeface="Muli Extra-Light"/>
                  <a:ea typeface="Muli Extra-Light"/>
                  <a:cs typeface="Muli Extra-Light"/>
                  <a:sym typeface="Muli Extra-Light"/>
                </a:rPr>
                <a:t>Sao lưu dữ liệu định kỳ theo lịch, lưu trữ ở thiết bị ngoài (ổ cứng rời, NAS) hoặc dịch vụ cloud bảo mật cao.</a:t>
              </a:r>
            </a:p>
            <a:p>
              <a:pPr algn="l" marL="410209" indent="-205105" lvl="1">
                <a:lnSpc>
                  <a:spcPts val="2659"/>
                </a:lnSpc>
                <a:buFont typeface="Arial"/>
                <a:buChar char="•"/>
              </a:pPr>
              <a:r>
                <a:rPr lang="en-US" sz="1899">
                  <a:solidFill>
                    <a:srgbClr val="FFFFFF"/>
                  </a:solidFill>
                  <a:latin typeface="Muli Extra-Light"/>
                  <a:ea typeface="Muli Extra-Light"/>
                  <a:cs typeface="Muli Extra-Light"/>
                  <a:sym typeface="Muli Extra-Light"/>
                </a:rPr>
                <a:t>Dữ liệu sao lưu cũng cần được mã hóa và kiểm soát truy cập.</a:t>
              </a:r>
            </a:p>
            <a:p>
              <a:pPr algn="l">
                <a:lnSpc>
                  <a:spcPts val="2660"/>
                </a:lnSpc>
              </a:pP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sp>
        <p:nvSpPr>
          <p:cNvPr name="Freeform 2" id="2"/>
          <p:cNvSpPr/>
          <p:nvPr/>
        </p:nvSpPr>
        <p:spPr>
          <a:xfrm flipH="false" flipV="false" rot="0">
            <a:off x="16100189" y="-895190"/>
            <a:ext cx="3282359" cy="3383875"/>
          </a:xfrm>
          <a:custGeom>
            <a:avLst/>
            <a:gdLst/>
            <a:ahLst/>
            <a:cxnLst/>
            <a:rect r="r" b="b" t="t" l="l"/>
            <a:pathLst>
              <a:path h="3383875" w="3282359">
                <a:moveTo>
                  <a:pt x="0" y="0"/>
                </a:moveTo>
                <a:lnTo>
                  <a:pt x="3282359" y="0"/>
                </a:lnTo>
                <a:lnTo>
                  <a:pt x="3282359" y="3383876"/>
                </a:lnTo>
                <a:lnTo>
                  <a:pt x="0" y="3383876"/>
                </a:lnTo>
                <a:lnTo>
                  <a:pt x="0" y="0"/>
                </a:lnTo>
                <a:close/>
              </a:path>
            </a:pathLst>
          </a:custGeom>
          <a:blipFill>
            <a:blip r:embed="rId2">
              <a:alphaModFix amt="29000"/>
            </a:blip>
            <a:stretch>
              <a:fillRect l="0" t="0" r="0" b="0"/>
            </a:stretch>
          </a:blipFill>
        </p:spPr>
      </p:sp>
      <p:grpSp>
        <p:nvGrpSpPr>
          <p:cNvPr name="Group 3" id="3"/>
          <p:cNvGrpSpPr/>
          <p:nvPr/>
        </p:nvGrpSpPr>
        <p:grpSpPr>
          <a:xfrm rot="0">
            <a:off x="7104324" y="796748"/>
            <a:ext cx="7965056" cy="4683214"/>
            <a:chOff x="0" y="0"/>
            <a:chExt cx="10620075" cy="6244285"/>
          </a:xfrm>
        </p:grpSpPr>
        <p:sp>
          <p:nvSpPr>
            <p:cNvPr name="TextBox 4" id="4"/>
            <p:cNvSpPr txBox="true"/>
            <p:nvPr/>
          </p:nvSpPr>
          <p:spPr>
            <a:xfrm rot="0">
              <a:off x="0" y="-9525"/>
              <a:ext cx="10620075" cy="3235612"/>
            </a:xfrm>
            <a:prstGeom prst="rect">
              <a:avLst/>
            </a:prstGeom>
          </p:spPr>
          <p:txBody>
            <a:bodyPr anchor="t" rtlCol="false" tIns="0" lIns="0" bIns="0" rIns="0">
              <a:spAutoFit/>
            </a:bodyPr>
            <a:lstStyle/>
            <a:p>
              <a:pPr algn="l">
                <a:lnSpc>
                  <a:spcPts val="9525"/>
                </a:lnSpc>
              </a:pPr>
              <a:r>
                <a:rPr lang="en-US" sz="7938" b="true">
                  <a:solidFill>
                    <a:srgbClr val="FFFFFF"/>
                  </a:solidFill>
                  <a:latin typeface="Muli Semi-Bold"/>
                  <a:ea typeface="Muli Semi-Bold"/>
                  <a:cs typeface="Muli Semi-Bold"/>
                  <a:sym typeface="Muli Semi-Bold"/>
                </a:rPr>
                <a:t>Mạng không dây</a:t>
              </a:r>
              <a:r>
                <a:rPr lang="en-US" sz="7938" b="true">
                  <a:solidFill>
                    <a:srgbClr val="FFFFFF"/>
                  </a:solidFill>
                  <a:latin typeface="Muli Semi-Bold"/>
                  <a:ea typeface="Muli Semi-Bold"/>
                  <a:cs typeface="Muli Semi-Bold"/>
                  <a:sym typeface="Muli Semi-Bold"/>
                </a:rPr>
                <a:t> là gì?</a:t>
              </a:r>
            </a:p>
          </p:txBody>
        </p:sp>
        <p:sp>
          <p:nvSpPr>
            <p:cNvPr name="TextBox 5" id="5"/>
            <p:cNvSpPr txBox="true"/>
            <p:nvPr/>
          </p:nvSpPr>
          <p:spPr>
            <a:xfrm rot="0">
              <a:off x="0" y="3767570"/>
              <a:ext cx="10620075" cy="2476715"/>
            </a:xfrm>
            <a:prstGeom prst="rect">
              <a:avLst/>
            </a:prstGeom>
          </p:spPr>
          <p:txBody>
            <a:bodyPr anchor="t" rtlCol="false" tIns="0" lIns="0" bIns="0" rIns="0">
              <a:spAutoFit/>
            </a:bodyPr>
            <a:lstStyle/>
            <a:p>
              <a:pPr algn="l">
                <a:lnSpc>
                  <a:spcPts val="3704"/>
                </a:lnSpc>
              </a:pPr>
              <a:r>
                <a:rPr lang="en-US" sz="2646">
                  <a:solidFill>
                    <a:srgbClr val="FFFFFF"/>
                  </a:solidFill>
                  <a:latin typeface="Muli Extra-Light"/>
                  <a:ea typeface="Muli Extra-Light"/>
                  <a:cs typeface="Muli Extra-Light"/>
                  <a:sym typeface="Muli Extra-Light"/>
                </a:rPr>
                <a:t>Mạ</a:t>
              </a:r>
              <a:r>
                <a:rPr lang="en-US" sz="2646">
                  <a:solidFill>
                    <a:srgbClr val="FFFFFF"/>
                  </a:solidFill>
                  <a:latin typeface="Muli Extra-Light"/>
                  <a:ea typeface="Muli Extra-Light"/>
                  <a:cs typeface="Muli Extra-Light"/>
                  <a:sym typeface="Muli Extra-Light"/>
                </a:rPr>
                <a:t>ng không dây (Wi-Fi, Wireless, 802.11) là hệ thống kết nối các thiết bị có khả năng thu phát sóng (như laptop, PDA...) qua sóng vô tuyến, thay vì dùng dây dẫn, thông qua các trạm thu/phát sóng.</a:t>
              </a:r>
            </a:p>
          </p:txBody>
        </p:sp>
      </p:grpSp>
      <p:grpSp>
        <p:nvGrpSpPr>
          <p:cNvPr name="Group 6" id="6"/>
          <p:cNvGrpSpPr/>
          <p:nvPr/>
        </p:nvGrpSpPr>
        <p:grpSpPr>
          <a:xfrm rot="0">
            <a:off x="10194392" y="5805611"/>
            <a:ext cx="7257198" cy="4253227"/>
            <a:chOff x="0" y="0"/>
            <a:chExt cx="9676264" cy="5670970"/>
          </a:xfrm>
        </p:grpSpPr>
        <p:sp>
          <p:nvSpPr>
            <p:cNvPr name="TextBox 7" id="7"/>
            <p:cNvSpPr txBox="true"/>
            <p:nvPr/>
          </p:nvSpPr>
          <p:spPr>
            <a:xfrm rot="0">
              <a:off x="0" y="9525"/>
              <a:ext cx="9676264" cy="2911475"/>
            </a:xfrm>
            <a:prstGeom prst="rect">
              <a:avLst/>
            </a:prstGeom>
          </p:spPr>
          <p:txBody>
            <a:bodyPr anchor="t" rtlCol="false" tIns="0" lIns="0" bIns="0" rIns="0">
              <a:spAutoFit/>
            </a:bodyPr>
            <a:lstStyle/>
            <a:p>
              <a:pPr algn="ctr">
                <a:lnSpc>
                  <a:spcPts val="8679"/>
                </a:lnSpc>
              </a:pPr>
              <a:r>
                <a:rPr lang="en-US" b="true" sz="7232">
                  <a:solidFill>
                    <a:srgbClr val="FFFFFF"/>
                  </a:solidFill>
                  <a:latin typeface="Muli Semi-Bold"/>
                  <a:ea typeface="Muli Semi-Bold"/>
                  <a:cs typeface="Muli Semi-Bold"/>
                  <a:sym typeface="Muli Semi-Bold"/>
                </a:rPr>
                <a:t>Wi-Fi Wireless</a:t>
              </a:r>
              <a:r>
                <a:rPr lang="en-US" b="true" sz="7232">
                  <a:solidFill>
                    <a:srgbClr val="FFFFFF"/>
                  </a:solidFill>
                  <a:latin typeface="Muli Semi-Bold"/>
                  <a:ea typeface="Muli Semi-Bold"/>
                  <a:cs typeface="Muli Semi-Bold"/>
                  <a:sym typeface="Muli Semi-Bold"/>
                </a:rPr>
                <a:t> là gì?</a:t>
              </a:r>
            </a:p>
          </p:txBody>
        </p:sp>
        <p:sp>
          <p:nvSpPr>
            <p:cNvPr name="TextBox 8" id="8"/>
            <p:cNvSpPr txBox="true"/>
            <p:nvPr/>
          </p:nvSpPr>
          <p:spPr>
            <a:xfrm rot="0">
              <a:off x="0" y="3428332"/>
              <a:ext cx="9676264" cy="2242637"/>
            </a:xfrm>
            <a:prstGeom prst="rect">
              <a:avLst/>
            </a:prstGeom>
          </p:spPr>
          <p:txBody>
            <a:bodyPr anchor="t" rtlCol="false" tIns="0" lIns="0" bIns="0" rIns="0">
              <a:spAutoFit/>
            </a:bodyPr>
            <a:lstStyle/>
            <a:p>
              <a:pPr algn="l">
                <a:lnSpc>
                  <a:spcPts val="3375"/>
                </a:lnSpc>
              </a:pPr>
              <a:r>
                <a:rPr lang="en-US" sz="2410">
                  <a:solidFill>
                    <a:srgbClr val="FFFFFF"/>
                  </a:solidFill>
                  <a:latin typeface="Muli Extra-Light"/>
                  <a:ea typeface="Muli Extra-Light"/>
                  <a:cs typeface="Muli Extra-Light"/>
                  <a:sym typeface="Muli Extra-Light"/>
                </a:rPr>
                <a:t>5G là thế hệ thứ năm của công nghệ mạng</a:t>
              </a:r>
            </a:p>
            <a:p>
              <a:pPr algn="l">
                <a:lnSpc>
                  <a:spcPts val="3375"/>
                </a:lnSpc>
              </a:pPr>
              <a:r>
                <a:rPr lang="en-US" sz="2410">
                  <a:solidFill>
                    <a:srgbClr val="FFFFFF"/>
                  </a:solidFill>
                  <a:latin typeface="Muli Extra-Light"/>
                  <a:ea typeface="Muli Extra-Light"/>
                  <a:cs typeface="Muli Extra-Light"/>
                  <a:sym typeface="Muli Extra-Light"/>
                </a:rPr>
                <a:t>không dây. Nó giúp tải xuống và tải lên nhanh hơn, đồng thời cho phép nhiều thiết bị được kết nối</a:t>
              </a:r>
            </a:p>
            <a:p>
              <a:pPr algn="l">
                <a:lnSpc>
                  <a:spcPts val="3375"/>
                </a:lnSpc>
              </a:pPr>
              <a:r>
                <a:rPr lang="en-US" sz="2410">
                  <a:solidFill>
                    <a:srgbClr val="FFFFFF"/>
                  </a:solidFill>
                  <a:latin typeface="Muli Extra-Light"/>
                  <a:ea typeface="Muli Extra-Light"/>
                  <a:cs typeface="Muli Extra-Light"/>
                  <a:sym typeface="Muli Extra-Light"/>
                </a:rPr>
                <a:t>cùng một lúc hơn.</a:t>
              </a:r>
            </a:p>
          </p:txBody>
        </p:sp>
      </p:grpSp>
      <p:grpSp>
        <p:nvGrpSpPr>
          <p:cNvPr name="Group 9" id="9"/>
          <p:cNvGrpSpPr/>
          <p:nvPr/>
        </p:nvGrpSpPr>
        <p:grpSpPr>
          <a:xfrm rot="0">
            <a:off x="265611" y="3332407"/>
            <a:ext cx="7168458" cy="4295110"/>
            <a:chOff x="0" y="0"/>
            <a:chExt cx="9557944" cy="5726814"/>
          </a:xfrm>
        </p:grpSpPr>
        <p:sp>
          <p:nvSpPr>
            <p:cNvPr name="TextBox 10" id="10"/>
            <p:cNvSpPr txBox="true"/>
            <p:nvPr/>
          </p:nvSpPr>
          <p:spPr>
            <a:xfrm rot="0">
              <a:off x="0" y="5028314"/>
              <a:ext cx="9557944" cy="698500"/>
            </a:xfrm>
            <a:prstGeom prst="rect">
              <a:avLst/>
            </a:prstGeom>
          </p:spPr>
          <p:txBody>
            <a:bodyPr anchor="t" rtlCol="false" tIns="0" lIns="0" bIns="0" rIns="0">
              <a:spAutoFit/>
            </a:bodyPr>
            <a:lstStyle/>
            <a:p>
              <a:pPr algn="l">
                <a:lnSpc>
                  <a:spcPts val="4200"/>
                </a:lnSpc>
              </a:pPr>
              <a:r>
                <a:rPr lang="en-US" sz="3500">
                  <a:solidFill>
                    <a:srgbClr val="10B5BF"/>
                  </a:solidFill>
                  <a:latin typeface="Muli"/>
                  <a:ea typeface="Muli"/>
                  <a:cs typeface="Muli"/>
                  <a:sym typeface="Muli"/>
                </a:rPr>
                <a:t>MẠNG KHÔNG DÂY VÀ DI ĐỘNG</a:t>
              </a:r>
            </a:p>
          </p:txBody>
        </p:sp>
        <p:sp>
          <p:nvSpPr>
            <p:cNvPr name="TextBox 11" id="11"/>
            <p:cNvSpPr txBox="true"/>
            <p:nvPr/>
          </p:nvSpPr>
          <p:spPr>
            <a:xfrm rot="0">
              <a:off x="0" y="0"/>
              <a:ext cx="9557944" cy="4343400"/>
            </a:xfrm>
            <a:prstGeom prst="rect">
              <a:avLst/>
            </a:prstGeom>
          </p:spPr>
          <p:txBody>
            <a:bodyPr anchor="t" rtlCol="false" tIns="0" lIns="0" bIns="0" rIns="0">
              <a:spAutoFit/>
            </a:bodyPr>
            <a:lstStyle/>
            <a:p>
              <a:pPr algn="l">
                <a:lnSpc>
                  <a:spcPts val="12839"/>
                </a:lnSpc>
              </a:pPr>
              <a:r>
                <a:rPr lang="en-US" sz="10699" b="true">
                  <a:solidFill>
                    <a:srgbClr val="FFFFFF"/>
                  </a:solidFill>
                  <a:latin typeface="Muli Semi-Bold"/>
                  <a:ea typeface="Muli Semi-Bold"/>
                  <a:cs typeface="Muli Semi-Bold"/>
                  <a:sym typeface="Muli Semi-Bold"/>
                </a:rPr>
                <a:t>CƠ SỞ LÍ THUYẾT </a:t>
              </a:r>
            </a:p>
          </p:txBody>
        </p:sp>
      </p:grpSp>
    </p:spTree>
  </p:cSld>
  <p:clrMapOvr>
    <a:masterClrMapping/>
  </p:clrMapOvr>
</p:sld>
</file>

<file path=ppt/slides/slide7.xml><?xml version="1.0" encoding="utf-8"?>
<p:sld xmlns:p="http://schemas.openxmlformats.org/presentationml/2006/main" xmlns:a="http://schemas.openxmlformats.org/drawingml/2006/main">
  <p:cSld>
    <p:bg>
      <p:bgPr>
        <a:solidFill>
          <a:srgbClr val="141414"/>
        </a:solidFill>
      </p:bgPr>
    </p:bg>
    <p:spTree>
      <p:nvGrpSpPr>
        <p:cNvPr id="1" name=""/>
        <p:cNvGrpSpPr/>
        <p:nvPr/>
      </p:nvGrpSpPr>
      <p:grpSpPr>
        <a:xfrm>
          <a:off x="0" y="0"/>
          <a:ext cx="0" cy="0"/>
          <a:chOff x="0" y="0"/>
          <a:chExt cx="0" cy="0"/>
        </a:xfrm>
      </p:grpSpPr>
      <p:sp>
        <p:nvSpPr>
          <p:cNvPr name="TextBox 2" id="2"/>
          <p:cNvSpPr txBox="true"/>
          <p:nvPr/>
        </p:nvSpPr>
        <p:spPr>
          <a:xfrm rot="0">
            <a:off x="1375885" y="1028700"/>
            <a:ext cx="15536230" cy="1276350"/>
          </a:xfrm>
          <a:prstGeom prst="rect">
            <a:avLst/>
          </a:prstGeom>
        </p:spPr>
        <p:txBody>
          <a:bodyPr anchor="t" rtlCol="false" tIns="0" lIns="0" bIns="0" rIns="0">
            <a:spAutoFit/>
          </a:bodyPr>
          <a:lstStyle/>
          <a:p>
            <a:pPr algn="ctr">
              <a:lnSpc>
                <a:spcPts val="10079"/>
              </a:lnSpc>
            </a:pPr>
            <a:r>
              <a:rPr lang="en-US" sz="8399" b="true">
                <a:solidFill>
                  <a:srgbClr val="FFFFFF"/>
                </a:solidFill>
                <a:latin typeface="Muli Semi-Bold"/>
                <a:ea typeface="Muli Semi-Bold"/>
                <a:cs typeface="Muli Semi-Bold"/>
                <a:sym typeface="Muli Semi-Bold"/>
              </a:rPr>
              <a:t>Phân loại mạng không dây</a:t>
            </a:r>
          </a:p>
        </p:txBody>
      </p:sp>
      <p:grpSp>
        <p:nvGrpSpPr>
          <p:cNvPr name="Group 3" id="3"/>
          <p:cNvGrpSpPr/>
          <p:nvPr/>
        </p:nvGrpSpPr>
        <p:grpSpPr>
          <a:xfrm rot="0">
            <a:off x="0" y="3559094"/>
            <a:ext cx="3557870" cy="6167282"/>
            <a:chOff x="0" y="0"/>
            <a:chExt cx="4743827" cy="8223043"/>
          </a:xfrm>
        </p:grpSpPr>
        <p:sp>
          <p:nvSpPr>
            <p:cNvPr name="TextBox 4" id="4"/>
            <p:cNvSpPr txBox="true"/>
            <p:nvPr/>
          </p:nvSpPr>
          <p:spPr>
            <a:xfrm rot="0">
              <a:off x="0" y="0"/>
              <a:ext cx="4743827" cy="609600"/>
            </a:xfrm>
            <a:prstGeom prst="rect">
              <a:avLst/>
            </a:prstGeom>
          </p:spPr>
          <p:txBody>
            <a:bodyPr anchor="t" rtlCol="false" tIns="0" lIns="0" bIns="0" rIns="0">
              <a:spAutoFit/>
            </a:bodyPr>
            <a:lstStyle/>
            <a:p>
              <a:pPr algn="ctr">
                <a:lnSpc>
                  <a:spcPts val="3600"/>
                </a:lnSpc>
              </a:pPr>
              <a:r>
                <a:rPr lang="en-US" sz="3000">
                  <a:solidFill>
                    <a:srgbClr val="FFFFFF"/>
                  </a:solidFill>
                  <a:latin typeface="Muli"/>
                  <a:ea typeface="Muli"/>
                  <a:cs typeface="Muli"/>
                  <a:sym typeface="Muli"/>
                </a:rPr>
                <a:t>WPAN</a:t>
              </a:r>
            </a:p>
          </p:txBody>
        </p:sp>
        <p:sp>
          <p:nvSpPr>
            <p:cNvPr name="AutoShape 5" id="5"/>
            <p:cNvSpPr/>
            <p:nvPr/>
          </p:nvSpPr>
          <p:spPr>
            <a:xfrm rot="0">
              <a:off x="0" y="1037254"/>
              <a:ext cx="4743827" cy="845861"/>
            </a:xfrm>
            <a:prstGeom prst="rect">
              <a:avLst/>
            </a:prstGeom>
            <a:solidFill>
              <a:srgbClr val="10B5BF"/>
            </a:solidFill>
          </p:spPr>
        </p:sp>
        <p:sp>
          <p:nvSpPr>
            <p:cNvPr name="TextBox 6" id="6"/>
            <p:cNvSpPr txBox="true"/>
            <p:nvPr/>
          </p:nvSpPr>
          <p:spPr>
            <a:xfrm rot="0">
              <a:off x="355482" y="1184806"/>
              <a:ext cx="4032862" cy="942552"/>
            </a:xfrm>
            <a:prstGeom prst="rect">
              <a:avLst/>
            </a:prstGeom>
          </p:spPr>
          <p:txBody>
            <a:bodyPr anchor="t" rtlCol="false" tIns="0" lIns="0" bIns="0" rIns="0">
              <a:spAutoFit/>
            </a:bodyPr>
            <a:lstStyle/>
            <a:p>
              <a:pPr algn="ctr">
                <a:lnSpc>
                  <a:spcPts val="2904"/>
                </a:lnSpc>
              </a:pPr>
              <a:r>
                <a:rPr lang="en-US" sz="2075">
                  <a:solidFill>
                    <a:srgbClr val="FFFFFF"/>
                  </a:solidFill>
                  <a:latin typeface="Muli Extra-Light"/>
                  <a:ea typeface="Muli Extra-Light"/>
                  <a:cs typeface="Muli Extra-Light"/>
                  <a:sym typeface="Muli Extra-Light"/>
                </a:rPr>
                <a:t>Wireless Personal Area Network</a:t>
              </a:r>
            </a:p>
          </p:txBody>
        </p:sp>
        <p:sp>
          <p:nvSpPr>
            <p:cNvPr name="TextBox 7" id="7"/>
            <p:cNvSpPr txBox="true"/>
            <p:nvPr/>
          </p:nvSpPr>
          <p:spPr>
            <a:xfrm rot="0">
              <a:off x="0" y="2282194"/>
              <a:ext cx="4743827" cy="5940849"/>
            </a:xfrm>
            <a:prstGeom prst="rect">
              <a:avLst/>
            </a:prstGeom>
          </p:spPr>
          <p:txBody>
            <a:bodyPr anchor="t" rtlCol="false" tIns="0" lIns="0" bIns="0" rIns="0">
              <a:spAutoFit/>
            </a:bodyPr>
            <a:lstStyle/>
            <a:p>
              <a:pPr algn="l" marL="394015" indent="-197008" lvl="1">
                <a:lnSpc>
                  <a:spcPts val="2554"/>
                </a:lnSpc>
                <a:buFont typeface="Arial"/>
                <a:buChar char="•"/>
              </a:pPr>
              <a:r>
                <a:rPr lang="en-US" sz="1824">
                  <a:solidFill>
                    <a:srgbClr val="FFFFFF"/>
                  </a:solidFill>
                  <a:latin typeface="Muli Extra-Light"/>
                  <a:ea typeface="Muli Extra-Light"/>
                  <a:cs typeface="Muli Extra-Light"/>
                  <a:sym typeface="Muli Extra-Light"/>
                </a:rPr>
                <a:t>WPAN là mạng vô tuyến cá nhân. Bao gồm các công nghệ vô tuyến có vù</a:t>
              </a:r>
              <a:r>
                <a:rPr lang="en-US" sz="1824">
                  <a:solidFill>
                    <a:srgbClr val="FFFFFF"/>
                  </a:solidFill>
                  <a:latin typeface="Muli Extra-Light"/>
                  <a:ea typeface="Muli Extra-Light"/>
                  <a:cs typeface="Muli Extra-Light"/>
                  <a:sym typeface="Muli Extra-Light"/>
                </a:rPr>
                <a:t>ng phủ sóng nhỏ (vài mét đến hàng chục mét).</a:t>
              </a:r>
            </a:p>
            <a:p>
              <a:pPr algn="l" marL="394015" indent="-197008" lvl="1">
                <a:lnSpc>
                  <a:spcPts val="2554"/>
                </a:lnSpc>
                <a:buFont typeface="Arial"/>
                <a:buChar char="•"/>
              </a:pPr>
              <a:r>
                <a:rPr lang="en-US" sz="1824">
                  <a:solidFill>
                    <a:srgbClr val="FFFFFF"/>
                  </a:solidFill>
                  <a:latin typeface="Muli Extra-Light"/>
                  <a:ea typeface="Muli Extra-Light"/>
                  <a:cs typeface="Muli Extra-Light"/>
                  <a:sym typeface="Muli Extra-Light"/>
                </a:rPr>
                <a:t>Mục đích: kết nối các thiết bị ngoại vi (chuột, máy in, đĩa cứng, USB, đồng hồ, … ) với điện thoại di động, máy tính.</a:t>
              </a:r>
            </a:p>
            <a:p>
              <a:pPr algn="l" marL="394015" indent="-197008" lvl="1">
                <a:lnSpc>
                  <a:spcPts val="2554"/>
                </a:lnSpc>
                <a:buFont typeface="Arial"/>
                <a:buChar char="•"/>
              </a:pPr>
              <a:r>
                <a:rPr lang="en-US" sz="1824">
                  <a:solidFill>
                    <a:srgbClr val="FFFFFF"/>
                  </a:solidFill>
                  <a:latin typeface="Muli Extra-Light"/>
                  <a:ea typeface="Muli Extra-Light"/>
                  <a:cs typeface="Muli Extra-Light"/>
                  <a:sym typeface="Muli Extra-Light"/>
                </a:rPr>
                <a:t>Các loại công nghệ của WPAN: Bluetooth, Wibree, ZigBee, UWB, Wireless USB, EnOcean, …</a:t>
              </a:r>
            </a:p>
            <a:p>
              <a:pPr algn="l">
                <a:lnSpc>
                  <a:spcPts val="2135"/>
                </a:lnSpc>
              </a:pPr>
            </a:p>
          </p:txBody>
        </p:sp>
      </p:grpSp>
      <p:grpSp>
        <p:nvGrpSpPr>
          <p:cNvPr name="Group 8" id="8"/>
          <p:cNvGrpSpPr/>
          <p:nvPr/>
        </p:nvGrpSpPr>
        <p:grpSpPr>
          <a:xfrm rot="0">
            <a:off x="3748370" y="3559094"/>
            <a:ext cx="3509314" cy="4685192"/>
            <a:chOff x="0" y="0"/>
            <a:chExt cx="4679085" cy="6246923"/>
          </a:xfrm>
        </p:grpSpPr>
        <p:sp>
          <p:nvSpPr>
            <p:cNvPr name="TextBox 9" id="9"/>
            <p:cNvSpPr txBox="true"/>
            <p:nvPr/>
          </p:nvSpPr>
          <p:spPr>
            <a:xfrm rot="0">
              <a:off x="0" y="0"/>
              <a:ext cx="4679085" cy="609600"/>
            </a:xfrm>
            <a:prstGeom prst="rect">
              <a:avLst/>
            </a:prstGeom>
          </p:spPr>
          <p:txBody>
            <a:bodyPr anchor="t" rtlCol="false" tIns="0" lIns="0" bIns="0" rIns="0">
              <a:spAutoFit/>
            </a:bodyPr>
            <a:lstStyle/>
            <a:p>
              <a:pPr algn="ctr">
                <a:lnSpc>
                  <a:spcPts val="3600"/>
                </a:lnSpc>
              </a:pPr>
              <a:r>
                <a:rPr lang="en-US" sz="3000">
                  <a:solidFill>
                    <a:srgbClr val="FFFFFF"/>
                  </a:solidFill>
                  <a:latin typeface="Muli"/>
                  <a:ea typeface="Muli"/>
                  <a:cs typeface="Muli"/>
                  <a:sym typeface="Muli"/>
                </a:rPr>
                <a:t>WLAN</a:t>
              </a:r>
            </a:p>
          </p:txBody>
        </p:sp>
        <p:sp>
          <p:nvSpPr>
            <p:cNvPr name="AutoShape 10" id="10"/>
            <p:cNvSpPr/>
            <p:nvPr/>
          </p:nvSpPr>
          <p:spPr>
            <a:xfrm rot="0">
              <a:off x="0" y="1037254"/>
              <a:ext cx="4679085" cy="845861"/>
            </a:xfrm>
            <a:prstGeom prst="rect">
              <a:avLst/>
            </a:prstGeom>
            <a:solidFill>
              <a:srgbClr val="10B5BF"/>
            </a:solidFill>
          </p:spPr>
        </p:sp>
        <p:sp>
          <p:nvSpPr>
            <p:cNvPr name="TextBox 11" id="11"/>
            <p:cNvSpPr txBox="true"/>
            <p:nvPr/>
          </p:nvSpPr>
          <p:spPr>
            <a:xfrm rot="0">
              <a:off x="350631" y="1184806"/>
              <a:ext cx="3977823" cy="942552"/>
            </a:xfrm>
            <a:prstGeom prst="rect">
              <a:avLst/>
            </a:prstGeom>
          </p:spPr>
          <p:txBody>
            <a:bodyPr anchor="t" rtlCol="false" tIns="0" lIns="0" bIns="0" rIns="0">
              <a:spAutoFit/>
            </a:bodyPr>
            <a:lstStyle/>
            <a:p>
              <a:pPr algn="ctr">
                <a:lnSpc>
                  <a:spcPts val="2904"/>
                </a:lnSpc>
              </a:pPr>
              <a:r>
                <a:rPr lang="en-US" sz="2075">
                  <a:solidFill>
                    <a:srgbClr val="FFFFFF"/>
                  </a:solidFill>
                  <a:latin typeface="Muli Extra-Light"/>
                  <a:ea typeface="Muli Extra-Light"/>
                  <a:cs typeface="Muli Extra-Light"/>
                  <a:sym typeface="Muli Extra-Light"/>
                </a:rPr>
                <a:t>Wireless Local Area Network</a:t>
              </a:r>
            </a:p>
          </p:txBody>
        </p:sp>
        <p:sp>
          <p:nvSpPr>
            <p:cNvPr name="TextBox 12" id="12"/>
            <p:cNvSpPr txBox="true"/>
            <p:nvPr/>
          </p:nvSpPr>
          <p:spPr>
            <a:xfrm rot="0">
              <a:off x="0" y="2272669"/>
              <a:ext cx="4679085" cy="3974253"/>
            </a:xfrm>
            <a:prstGeom prst="rect">
              <a:avLst/>
            </a:prstGeom>
          </p:spPr>
          <p:txBody>
            <a:bodyPr anchor="t" rtlCol="false" tIns="0" lIns="0" bIns="0" rIns="0">
              <a:spAutoFit/>
            </a:bodyPr>
            <a:lstStyle/>
            <a:p>
              <a:pPr algn="l" marL="410209" indent="-205105" lvl="1">
                <a:lnSpc>
                  <a:spcPts val="2659"/>
                </a:lnSpc>
                <a:buFont typeface="Arial"/>
                <a:buChar char="•"/>
              </a:pPr>
              <a:r>
                <a:rPr lang="en-US" sz="1899">
                  <a:solidFill>
                    <a:srgbClr val="FFFFFF"/>
                  </a:solidFill>
                  <a:latin typeface="Muli Extra-Light"/>
                  <a:ea typeface="Muli Extra-Light"/>
                  <a:cs typeface="Muli Extra-Light"/>
                  <a:sym typeface="Muli Extra-Light"/>
                </a:rPr>
                <a:t>WLAN là mạng vô tuyến cục bộ. Bao gồm các công nghệ có vùng phủ sóng trung bình (vài trăm mét).</a:t>
              </a:r>
            </a:p>
            <a:p>
              <a:pPr algn="l" marL="410209" indent="-205105" lvl="1">
                <a:lnSpc>
                  <a:spcPts val="2659"/>
                </a:lnSpc>
                <a:buFont typeface="Arial"/>
                <a:buChar char="•"/>
              </a:pPr>
              <a:r>
                <a:rPr lang="en-US" sz="1899">
                  <a:solidFill>
                    <a:srgbClr val="FFFFFF"/>
                  </a:solidFill>
                  <a:latin typeface="Muli Extra-Light"/>
                  <a:ea typeface="Muli Extra-Light"/>
                  <a:cs typeface="Muli Extra-Light"/>
                  <a:sym typeface="Muli Extra-Light"/>
                </a:rPr>
                <a:t>Nổi bật</a:t>
              </a:r>
              <a:r>
                <a:rPr lang="en-US" sz="1899">
                  <a:solidFill>
                    <a:srgbClr val="FFFFFF"/>
                  </a:solidFill>
                  <a:latin typeface="Muli Extra-Light"/>
                  <a:ea typeface="Muli Extra-Light"/>
                  <a:cs typeface="Muli Extra-Light"/>
                  <a:sym typeface="Muli Extra-Light"/>
                </a:rPr>
                <a:t> của WLAN là công nghệ WiFi với nhiều chuẩn mở rộng khác nhau thuộc gia đình (802.11 a/b/g/h/i/…)</a:t>
              </a:r>
            </a:p>
            <a:p>
              <a:pPr algn="l">
                <a:lnSpc>
                  <a:spcPts val="2660"/>
                </a:lnSpc>
              </a:pPr>
            </a:p>
          </p:txBody>
        </p:sp>
      </p:grpSp>
      <p:grpSp>
        <p:nvGrpSpPr>
          <p:cNvPr name="Group 13" id="13"/>
          <p:cNvGrpSpPr/>
          <p:nvPr/>
        </p:nvGrpSpPr>
        <p:grpSpPr>
          <a:xfrm rot="0">
            <a:off x="7448184" y="3559094"/>
            <a:ext cx="3391632" cy="5746912"/>
            <a:chOff x="0" y="0"/>
            <a:chExt cx="4522176" cy="7662550"/>
          </a:xfrm>
        </p:grpSpPr>
        <p:sp>
          <p:nvSpPr>
            <p:cNvPr name="TextBox 14" id="14"/>
            <p:cNvSpPr txBox="true"/>
            <p:nvPr/>
          </p:nvSpPr>
          <p:spPr>
            <a:xfrm rot="0">
              <a:off x="0" y="0"/>
              <a:ext cx="4522176" cy="609600"/>
            </a:xfrm>
            <a:prstGeom prst="rect">
              <a:avLst/>
            </a:prstGeom>
          </p:spPr>
          <p:txBody>
            <a:bodyPr anchor="t" rtlCol="false" tIns="0" lIns="0" bIns="0" rIns="0">
              <a:spAutoFit/>
            </a:bodyPr>
            <a:lstStyle/>
            <a:p>
              <a:pPr algn="ctr">
                <a:lnSpc>
                  <a:spcPts val="3600"/>
                </a:lnSpc>
              </a:pPr>
              <a:r>
                <a:rPr lang="en-US" sz="3000">
                  <a:solidFill>
                    <a:srgbClr val="FFFFFF"/>
                  </a:solidFill>
                  <a:latin typeface="Muli"/>
                  <a:ea typeface="Muli"/>
                  <a:cs typeface="Muli"/>
                  <a:sym typeface="Muli"/>
                </a:rPr>
                <a:t>WMAN</a:t>
              </a:r>
            </a:p>
          </p:txBody>
        </p:sp>
        <p:sp>
          <p:nvSpPr>
            <p:cNvPr name="AutoShape 15" id="15"/>
            <p:cNvSpPr/>
            <p:nvPr/>
          </p:nvSpPr>
          <p:spPr>
            <a:xfrm rot="0">
              <a:off x="0" y="1646854"/>
              <a:ext cx="4522176" cy="845861"/>
            </a:xfrm>
            <a:prstGeom prst="rect">
              <a:avLst/>
            </a:prstGeom>
            <a:solidFill>
              <a:srgbClr val="10B5BF"/>
            </a:solidFill>
          </p:spPr>
        </p:sp>
        <p:sp>
          <p:nvSpPr>
            <p:cNvPr name="TextBox 16" id="16"/>
            <p:cNvSpPr txBox="true"/>
            <p:nvPr/>
          </p:nvSpPr>
          <p:spPr>
            <a:xfrm rot="0">
              <a:off x="338873" y="1794406"/>
              <a:ext cx="3844430" cy="942552"/>
            </a:xfrm>
            <a:prstGeom prst="rect">
              <a:avLst/>
            </a:prstGeom>
          </p:spPr>
          <p:txBody>
            <a:bodyPr anchor="t" rtlCol="false" tIns="0" lIns="0" bIns="0" rIns="0">
              <a:spAutoFit/>
            </a:bodyPr>
            <a:lstStyle/>
            <a:p>
              <a:pPr algn="l">
                <a:lnSpc>
                  <a:spcPts val="2904"/>
                </a:lnSpc>
              </a:pPr>
              <a:r>
                <a:rPr lang="en-US" sz="2075">
                  <a:solidFill>
                    <a:srgbClr val="FFFFFF"/>
                  </a:solidFill>
                  <a:latin typeface="Muli Extra-Light"/>
                  <a:ea typeface="Muli Extra-Light"/>
                  <a:cs typeface="Muli Extra-Light"/>
                  <a:sym typeface="Muli Extra-Light"/>
                </a:rPr>
                <a:t>Wireless Metropolitan Area Network</a:t>
              </a:r>
            </a:p>
          </p:txBody>
        </p:sp>
        <p:sp>
          <p:nvSpPr>
            <p:cNvPr name="TextBox 17" id="17"/>
            <p:cNvSpPr txBox="true"/>
            <p:nvPr/>
          </p:nvSpPr>
          <p:spPr>
            <a:xfrm rot="0">
              <a:off x="0" y="2882269"/>
              <a:ext cx="4522176" cy="4780280"/>
            </a:xfrm>
            <a:prstGeom prst="rect">
              <a:avLst/>
            </a:prstGeom>
          </p:spPr>
          <p:txBody>
            <a:bodyPr anchor="t" rtlCol="false" tIns="0" lIns="0" bIns="0" rIns="0">
              <a:spAutoFit/>
            </a:bodyPr>
            <a:lstStyle/>
            <a:p>
              <a:pPr algn="l" marL="415605" indent="-207802" lvl="1">
                <a:lnSpc>
                  <a:spcPts val="2694"/>
                </a:lnSpc>
                <a:buFont typeface="Arial"/>
                <a:buChar char="•"/>
              </a:pPr>
              <a:r>
                <a:rPr lang="en-US" sz="1924">
                  <a:solidFill>
                    <a:srgbClr val="FFFFFF"/>
                  </a:solidFill>
                  <a:latin typeface="Muli Extra-Light"/>
                  <a:ea typeface="Muli Extra-Light"/>
                  <a:cs typeface="Muli Extra-Light"/>
                  <a:sym typeface="Muli Extra-Light"/>
                </a:rPr>
                <a:t>WMAN là mạng vô</a:t>
              </a:r>
              <a:r>
                <a:rPr lang="en-US" sz="1924">
                  <a:solidFill>
                    <a:srgbClr val="FFFFFF"/>
                  </a:solidFill>
                  <a:latin typeface="Muli Extra-Light"/>
                  <a:ea typeface="Muli Extra-Light"/>
                  <a:cs typeface="Muli Extra-Light"/>
                  <a:sym typeface="Muli Extra-Light"/>
                </a:rPr>
                <a:t> tuyến cục bộ. Bao gồm các công nghệ có vùng phủ sóng từ 4 – 5km.</a:t>
              </a:r>
            </a:p>
            <a:p>
              <a:pPr algn="l" marL="415605" indent="-207802" lvl="1">
                <a:lnSpc>
                  <a:spcPts val="2694"/>
                </a:lnSpc>
                <a:buFont typeface="Arial"/>
                <a:buChar char="•"/>
              </a:pPr>
              <a:r>
                <a:rPr lang="en-US" sz="1924">
                  <a:solidFill>
                    <a:srgbClr val="FFFFFF"/>
                  </a:solidFill>
                  <a:latin typeface="Muli Extra-Light"/>
                  <a:ea typeface="Muli Extra-Light"/>
                  <a:cs typeface="Muli Extra-Light"/>
                  <a:sym typeface="Muli Extra-Light"/>
                </a:rPr>
                <a:t>Nổi</a:t>
              </a:r>
              <a:r>
                <a:rPr lang="en-US" sz="1924">
                  <a:solidFill>
                    <a:srgbClr val="FFFFFF"/>
                  </a:solidFill>
                  <a:latin typeface="Muli Extra-Light"/>
                  <a:ea typeface="Muli Extra-Light"/>
                  <a:cs typeface="Muli Extra-Light"/>
                  <a:sym typeface="Muli Extra-Light"/>
                </a:rPr>
                <a:t> bật của WMAN là WiMAX (Worldwide Interoperability for Microwave Access) – hệ thống truy cập không dây băng rộng.</a:t>
              </a:r>
            </a:p>
            <a:p>
              <a:pPr algn="l">
                <a:lnSpc>
                  <a:spcPts val="2135"/>
                </a:lnSpc>
              </a:pPr>
            </a:p>
          </p:txBody>
        </p:sp>
      </p:grpSp>
      <p:grpSp>
        <p:nvGrpSpPr>
          <p:cNvPr name="Group 18" id="18"/>
          <p:cNvGrpSpPr/>
          <p:nvPr/>
        </p:nvGrpSpPr>
        <p:grpSpPr>
          <a:xfrm rot="0">
            <a:off x="11030316" y="3605766"/>
            <a:ext cx="3505025" cy="6220622"/>
            <a:chOff x="0" y="0"/>
            <a:chExt cx="4673367" cy="8294163"/>
          </a:xfrm>
        </p:grpSpPr>
        <p:sp>
          <p:nvSpPr>
            <p:cNvPr name="TextBox 19" id="19"/>
            <p:cNvSpPr txBox="true"/>
            <p:nvPr/>
          </p:nvSpPr>
          <p:spPr>
            <a:xfrm rot="0">
              <a:off x="0" y="0"/>
              <a:ext cx="4673367" cy="609600"/>
            </a:xfrm>
            <a:prstGeom prst="rect">
              <a:avLst/>
            </a:prstGeom>
          </p:spPr>
          <p:txBody>
            <a:bodyPr anchor="t" rtlCol="false" tIns="0" lIns="0" bIns="0" rIns="0">
              <a:spAutoFit/>
            </a:bodyPr>
            <a:lstStyle/>
            <a:p>
              <a:pPr algn="ctr">
                <a:lnSpc>
                  <a:spcPts val="3600"/>
                </a:lnSpc>
              </a:pPr>
              <a:r>
                <a:rPr lang="en-US" sz="3000">
                  <a:solidFill>
                    <a:srgbClr val="FFFFFF"/>
                  </a:solidFill>
                  <a:latin typeface="Muli"/>
                  <a:ea typeface="Muli"/>
                  <a:cs typeface="Muli"/>
                  <a:sym typeface="Muli"/>
                </a:rPr>
                <a:t>WWAN</a:t>
              </a:r>
            </a:p>
          </p:txBody>
        </p:sp>
        <p:sp>
          <p:nvSpPr>
            <p:cNvPr name="AutoShape 20" id="20"/>
            <p:cNvSpPr/>
            <p:nvPr/>
          </p:nvSpPr>
          <p:spPr>
            <a:xfrm rot="0">
              <a:off x="0" y="1037254"/>
              <a:ext cx="4673367" cy="845861"/>
            </a:xfrm>
            <a:prstGeom prst="rect">
              <a:avLst/>
            </a:prstGeom>
            <a:solidFill>
              <a:srgbClr val="10B5BF"/>
            </a:solidFill>
          </p:spPr>
        </p:sp>
        <p:sp>
          <p:nvSpPr>
            <p:cNvPr name="TextBox 21" id="21"/>
            <p:cNvSpPr txBox="true"/>
            <p:nvPr/>
          </p:nvSpPr>
          <p:spPr>
            <a:xfrm rot="0">
              <a:off x="350203" y="1184806"/>
              <a:ext cx="3972962" cy="942552"/>
            </a:xfrm>
            <a:prstGeom prst="rect">
              <a:avLst/>
            </a:prstGeom>
          </p:spPr>
          <p:txBody>
            <a:bodyPr anchor="t" rtlCol="false" tIns="0" lIns="0" bIns="0" rIns="0">
              <a:spAutoFit/>
            </a:bodyPr>
            <a:lstStyle/>
            <a:p>
              <a:pPr algn="ctr">
                <a:lnSpc>
                  <a:spcPts val="2904"/>
                </a:lnSpc>
              </a:pPr>
              <a:r>
                <a:rPr lang="en-US" sz="2075">
                  <a:solidFill>
                    <a:srgbClr val="FFFFFF"/>
                  </a:solidFill>
                  <a:latin typeface="Muli Extra-Light"/>
                  <a:ea typeface="Muli Extra-Light"/>
                  <a:cs typeface="Muli Extra-Light"/>
                  <a:sym typeface="Muli Extra-Light"/>
                </a:rPr>
                <a:t>Wireless Wide Area Network</a:t>
              </a:r>
            </a:p>
          </p:txBody>
        </p:sp>
        <p:sp>
          <p:nvSpPr>
            <p:cNvPr name="TextBox 22" id="22"/>
            <p:cNvSpPr txBox="true"/>
            <p:nvPr/>
          </p:nvSpPr>
          <p:spPr>
            <a:xfrm rot="0">
              <a:off x="0" y="2282194"/>
              <a:ext cx="4673367" cy="6011968"/>
            </a:xfrm>
            <a:prstGeom prst="rect">
              <a:avLst/>
            </a:prstGeom>
          </p:spPr>
          <p:txBody>
            <a:bodyPr anchor="t" rtlCol="false" tIns="0" lIns="0" bIns="0" rIns="0">
              <a:spAutoFit/>
            </a:bodyPr>
            <a:lstStyle/>
            <a:p>
              <a:pPr algn="l" marL="394017" indent="-197008" lvl="1">
                <a:lnSpc>
                  <a:spcPts val="2554"/>
                </a:lnSpc>
                <a:buFont typeface="Arial"/>
                <a:buChar char="•"/>
              </a:pPr>
              <a:r>
                <a:rPr lang="en-US" sz="1824">
                  <a:solidFill>
                    <a:srgbClr val="FFFFFF"/>
                  </a:solidFill>
                  <a:latin typeface="Muli Extra-Light"/>
                  <a:ea typeface="Muli Extra-Light"/>
                  <a:cs typeface="Muli Extra-Light"/>
                  <a:sym typeface="Muli Extra-Light"/>
                </a:rPr>
                <a:t>WWAN là mạng vô tuyến diện rộng. Bao gồm các công nghệ có vùng phủ sóng từ vài km đến 10km.</a:t>
              </a:r>
            </a:p>
            <a:p>
              <a:pPr algn="l" marL="394017" indent="-197008" lvl="1">
                <a:lnSpc>
                  <a:spcPts val="2554"/>
                </a:lnSpc>
                <a:buFont typeface="Arial"/>
                <a:buChar char="•"/>
              </a:pPr>
              <a:r>
                <a:rPr lang="en-US" sz="1824">
                  <a:solidFill>
                    <a:srgbClr val="FFFFFF"/>
                  </a:solidFill>
                  <a:latin typeface="Muli Extra-Light"/>
                  <a:ea typeface="Muli Extra-Light"/>
                  <a:cs typeface="Muli Extra-Light"/>
                  <a:sym typeface="Muli Extra-Light"/>
                </a:rPr>
                <a:t>Cá</a:t>
              </a:r>
              <a:r>
                <a:rPr lang="en-US" sz="1824">
                  <a:solidFill>
                    <a:srgbClr val="FFFFFF"/>
                  </a:solidFill>
                  <a:latin typeface="Muli Extra-Light"/>
                  <a:ea typeface="Muli Extra-Light"/>
                  <a:cs typeface="Muli Extra-Light"/>
                  <a:sym typeface="Muli Extra-Light"/>
                </a:rPr>
                <a:t>c loại công nghệ của WWAN: CDMA2000 (tiêu chuẩn công nghệ di động thuộc họ 3G), GSM (Global System for Mobile Communication), UMTS (Universal Mobile Telecommunications Systems)</a:t>
              </a:r>
            </a:p>
            <a:p>
              <a:pPr algn="l">
                <a:lnSpc>
                  <a:spcPts val="2554"/>
                </a:lnSpc>
              </a:pPr>
            </a:p>
          </p:txBody>
        </p:sp>
      </p:grpSp>
      <p:grpSp>
        <p:nvGrpSpPr>
          <p:cNvPr name="Group 23" id="23"/>
          <p:cNvGrpSpPr/>
          <p:nvPr/>
        </p:nvGrpSpPr>
        <p:grpSpPr>
          <a:xfrm rot="0">
            <a:off x="14725568" y="3559094"/>
            <a:ext cx="3562432" cy="5685317"/>
            <a:chOff x="0" y="0"/>
            <a:chExt cx="4749910" cy="7580423"/>
          </a:xfrm>
        </p:grpSpPr>
        <p:sp>
          <p:nvSpPr>
            <p:cNvPr name="TextBox 24" id="24"/>
            <p:cNvSpPr txBox="true"/>
            <p:nvPr/>
          </p:nvSpPr>
          <p:spPr>
            <a:xfrm rot="0">
              <a:off x="0" y="0"/>
              <a:ext cx="4749910" cy="609600"/>
            </a:xfrm>
            <a:prstGeom prst="rect">
              <a:avLst/>
            </a:prstGeom>
          </p:spPr>
          <p:txBody>
            <a:bodyPr anchor="t" rtlCol="false" tIns="0" lIns="0" bIns="0" rIns="0">
              <a:spAutoFit/>
            </a:bodyPr>
            <a:lstStyle/>
            <a:p>
              <a:pPr algn="l">
                <a:lnSpc>
                  <a:spcPts val="3600"/>
                </a:lnSpc>
              </a:pPr>
              <a:r>
                <a:rPr lang="en-US" sz="3000">
                  <a:solidFill>
                    <a:srgbClr val="FFFFFF"/>
                  </a:solidFill>
                  <a:latin typeface="Muli"/>
                  <a:ea typeface="Muli"/>
                  <a:cs typeface="Muli"/>
                  <a:sym typeface="Muli"/>
                </a:rPr>
                <a:t>WRAN </a:t>
              </a:r>
            </a:p>
          </p:txBody>
        </p:sp>
        <p:sp>
          <p:nvSpPr>
            <p:cNvPr name="AutoShape 25" id="25"/>
            <p:cNvSpPr/>
            <p:nvPr/>
          </p:nvSpPr>
          <p:spPr>
            <a:xfrm rot="0">
              <a:off x="0" y="1037254"/>
              <a:ext cx="4749910" cy="845861"/>
            </a:xfrm>
            <a:prstGeom prst="rect">
              <a:avLst/>
            </a:prstGeom>
            <a:solidFill>
              <a:srgbClr val="10B5BF"/>
            </a:solidFill>
          </p:spPr>
        </p:sp>
        <p:sp>
          <p:nvSpPr>
            <p:cNvPr name="TextBox 26" id="26"/>
            <p:cNvSpPr txBox="true"/>
            <p:nvPr/>
          </p:nvSpPr>
          <p:spPr>
            <a:xfrm rot="0">
              <a:off x="355938" y="1184806"/>
              <a:ext cx="4038033" cy="1036532"/>
            </a:xfrm>
            <a:prstGeom prst="rect">
              <a:avLst/>
            </a:prstGeom>
          </p:spPr>
          <p:txBody>
            <a:bodyPr anchor="t" rtlCol="false" tIns="0" lIns="0" bIns="0" rIns="0">
              <a:spAutoFit/>
            </a:bodyPr>
            <a:lstStyle/>
            <a:p>
              <a:pPr algn="ctr">
                <a:lnSpc>
                  <a:spcPts val="3219"/>
                </a:lnSpc>
              </a:pPr>
              <a:r>
                <a:rPr lang="en-US" sz="2300">
                  <a:solidFill>
                    <a:srgbClr val="FFFFFF"/>
                  </a:solidFill>
                  <a:latin typeface="Muli Extra-Light"/>
                  <a:ea typeface="Muli Extra-Light"/>
                  <a:cs typeface="Muli Extra-Light"/>
                  <a:sym typeface="Muli Extra-Light"/>
                </a:rPr>
                <a:t>Wireless Regional Area Network</a:t>
              </a:r>
            </a:p>
          </p:txBody>
        </p:sp>
        <p:sp>
          <p:nvSpPr>
            <p:cNvPr name="TextBox 27" id="27"/>
            <p:cNvSpPr txBox="true"/>
            <p:nvPr/>
          </p:nvSpPr>
          <p:spPr>
            <a:xfrm rot="0">
              <a:off x="0" y="2272669"/>
              <a:ext cx="4749910" cy="5307753"/>
            </a:xfrm>
            <a:prstGeom prst="rect">
              <a:avLst/>
            </a:prstGeom>
          </p:spPr>
          <p:txBody>
            <a:bodyPr anchor="t" rtlCol="false" tIns="0" lIns="0" bIns="0" rIns="0">
              <a:spAutoFit/>
            </a:bodyPr>
            <a:lstStyle/>
            <a:p>
              <a:pPr algn="l" marL="410209" indent="-205105" lvl="1">
                <a:lnSpc>
                  <a:spcPts val="2659"/>
                </a:lnSpc>
                <a:buFont typeface="Arial"/>
                <a:buChar char="•"/>
              </a:pPr>
              <a:r>
                <a:rPr lang="en-US" sz="1899">
                  <a:solidFill>
                    <a:srgbClr val="FFFFFF"/>
                  </a:solidFill>
                  <a:latin typeface="Muli Extra-Light"/>
                  <a:ea typeface="Muli Extra-Light"/>
                  <a:cs typeface="Muli Extra-Light"/>
                  <a:sym typeface="Muli Extra-Light"/>
                </a:rPr>
                <a:t>WRAN là mạng vô tuyến vùng rộng. Được thiết kế để cung cấp kết nối băng rộng cho các khu vực nông thôn, vùng sâu vùng xa.</a:t>
              </a:r>
            </a:p>
            <a:p>
              <a:pPr algn="l" marL="410209" indent="-205105" lvl="1">
                <a:lnSpc>
                  <a:spcPts val="2659"/>
                </a:lnSpc>
                <a:buFont typeface="Arial"/>
                <a:buChar char="•"/>
              </a:pPr>
              <a:r>
                <a:rPr lang="en-US" sz="1899">
                  <a:solidFill>
                    <a:srgbClr val="FFFFFF"/>
                  </a:solidFill>
                  <a:latin typeface="Muli Extra-Light"/>
                  <a:ea typeface="Muli Extra-Light"/>
                  <a:cs typeface="Muli Extra-Light"/>
                  <a:sym typeface="Muli Extra-Light"/>
                </a:rPr>
                <a:t>C</a:t>
              </a:r>
              <a:r>
                <a:rPr lang="en-US" sz="1899">
                  <a:solidFill>
                    <a:srgbClr val="FFFFFF"/>
                  </a:solidFill>
                  <a:latin typeface="Muli Extra-Light"/>
                  <a:ea typeface="Muli Extra-Light"/>
                  <a:cs typeface="Muli Extra-Light"/>
                  <a:sym typeface="Muli Extra-Light"/>
                </a:rPr>
                <a:t>ông nghệ tiêu biểu của WRAN: IEEE 802.22 – sử dụng phổ trắng truyền hình (TV White Spaces) để phủ sóng trong phạm vi từ 10 km đến hơn 100 km.</a:t>
              </a:r>
            </a:p>
            <a:p>
              <a:pPr algn="l">
                <a:lnSpc>
                  <a:spcPts val="2660"/>
                </a:lnSpc>
              </a:pP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sp>
        <p:nvSpPr>
          <p:cNvPr name="Freeform 2" id="2"/>
          <p:cNvSpPr/>
          <p:nvPr/>
        </p:nvSpPr>
        <p:spPr>
          <a:xfrm flipH="false" flipV="false" rot="0">
            <a:off x="7847270" y="2318625"/>
            <a:ext cx="9890153" cy="5649750"/>
          </a:xfrm>
          <a:custGeom>
            <a:avLst/>
            <a:gdLst/>
            <a:ahLst/>
            <a:cxnLst/>
            <a:rect r="r" b="b" t="t" l="l"/>
            <a:pathLst>
              <a:path h="5649750" w="9890153">
                <a:moveTo>
                  <a:pt x="0" y="0"/>
                </a:moveTo>
                <a:lnTo>
                  <a:pt x="9890152" y="0"/>
                </a:lnTo>
                <a:lnTo>
                  <a:pt x="9890152" y="5649750"/>
                </a:lnTo>
                <a:lnTo>
                  <a:pt x="0" y="5649750"/>
                </a:lnTo>
                <a:lnTo>
                  <a:pt x="0" y="0"/>
                </a:lnTo>
                <a:close/>
              </a:path>
            </a:pathLst>
          </a:custGeom>
          <a:blipFill>
            <a:blip r:embed="rId2"/>
            <a:stretch>
              <a:fillRect l="0" t="0" r="0" b="0"/>
            </a:stretch>
          </a:blipFill>
        </p:spPr>
      </p:sp>
      <p:grpSp>
        <p:nvGrpSpPr>
          <p:cNvPr name="Group 3" id="3"/>
          <p:cNvGrpSpPr/>
          <p:nvPr/>
        </p:nvGrpSpPr>
        <p:grpSpPr>
          <a:xfrm rot="0">
            <a:off x="468455" y="1851372"/>
            <a:ext cx="7023569" cy="6584256"/>
            <a:chOff x="0" y="0"/>
            <a:chExt cx="9364759" cy="8779007"/>
          </a:xfrm>
        </p:grpSpPr>
        <p:sp>
          <p:nvSpPr>
            <p:cNvPr name="TextBox 4" id="4"/>
            <p:cNvSpPr txBox="true"/>
            <p:nvPr/>
          </p:nvSpPr>
          <p:spPr>
            <a:xfrm rot="0">
              <a:off x="0" y="3485264"/>
              <a:ext cx="9364759" cy="698500"/>
            </a:xfrm>
            <a:prstGeom prst="rect">
              <a:avLst/>
            </a:prstGeom>
          </p:spPr>
          <p:txBody>
            <a:bodyPr anchor="t" rtlCol="false" tIns="0" lIns="0" bIns="0" rIns="0">
              <a:spAutoFit/>
            </a:bodyPr>
            <a:lstStyle/>
            <a:p>
              <a:pPr algn="l">
                <a:lnSpc>
                  <a:spcPts val="4200"/>
                </a:lnSpc>
              </a:pPr>
              <a:r>
                <a:rPr lang="en-US" sz="3500">
                  <a:solidFill>
                    <a:srgbClr val="10B5BF"/>
                  </a:solidFill>
                  <a:latin typeface="Muli"/>
                  <a:ea typeface="Muli"/>
                  <a:cs typeface="Muli"/>
                  <a:sym typeface="Muli"/>
                </a:rPr>
                <a:t>DEMO HỆ THỐNG</a:t>
              </a:r>
            </a:p>
          </p:txBody>
        </p:sp>
        <p:sp>
          <p:nvSpPr>
            <p:cNvPr name="TextBox 5" id="5"/>
            <p:cNvSpPr txBox="true"/>
            <p:nvPr/>
          </p:nvSpPr>
          <p:spPr>
            <a:xfrm rot="0">
              <a:off x="0" y="-19050"/>
              <a:ext cx="9364759" cy="2819400"/>
            </a:xfrm>
            <a:prstGeom prst="rect">
              <a:avLst/>
            </a:prstGeom>
          </p:spPr>
          <p:txBody>
            <a:bodyPr anchor="t" rtlCol="false" tIns="0" lIns="0" bIns="0" rIns="0">
              <a:spAutoFit/>
            </a:bodyPr>
            <a:lstStyle/>
            <a:p>
              <a:pPr algn="l">
                <a:lnSpc>
                  <a:spcPts val="8400"/>
                </a:lnSpc>
              </a:pPr>
              <a:r>
                <a:rPr lang="en-US" sz="7000" b="true">
                  <a:solidFill>
                    <a:srgbClr val="FFFFFF"/>
                  </a:solidFill>
                  <a:latin typeface="Muli Semi-Bold"/>
                  <a:ea typeface="Muli Semi-Bold"/>
                  <a:cs typeface="Muli Semi-Bold"/>
                  <a:sym typeface="Muli Semi-Bold"/>
                </a:rPr>
                <a:t>THỰC NGHIỆM CHƯƠNG TRÌNH</a:t>
              </a:r>
            </a:p>
          </p:txBody>
        </p:sp>
        <p:sp>
          <p:nvSpPr>
            <p:cNvPr name="TextBox 6" id="6"/>
            <p:cNvSpPr txBox="true"/>
            <p:nvPr/>
          </p:nvSpPr>
          <p:spPr>
            <a:xfrm rot="0">
              <a:off x="0" y="4880107"/>
              <a:ext cx="9364759" cy="3849370"/>
            </a:xfrm>
            <a:prstGeom prst="rect">
              <a:avLst/>
            </a:prstGeom>
          </p:spPr>
          <p:txBody>
            <a:bodyPr anchor="t" rtlCol="false" tIns="0" lIns="0" bIns="0" rIns="0">
              <a:spAutoFit/>
            </a:bodyPr>
            <a:lstStyle/>
            <a:p>
              <a:pPr algn="l">
                <a:lnSpc>
                  <a:spcPts val="3884"/>
                </a:lnSpc>
              </a:pPr>
              <a:r>
                <a:rPr lang="en-US" sz="2775" i="true">
                  <a:solidFill>
                    <a:srgbClr val="FFFFFF"/>
                  </a:solidFill>
                  <a:latin typeface="Muli Extra-Light Italics"/>
                  <a:ea typeface="Muli Extra-Light Italics"/>
                  <a:cs typeface="Muli Extra-Light Italics"/>
                  <a:sym typeface="Muli Extra-Light Italics"/>
                </a:rPr>
                <a:t>GIẢI PHÁP BẢO MẬT</a:t>
              </a:r>
            </a:p>
            <a:p>
              <a:pPr algn="l" marL="599122" indent="-299561" lvl="1">
                <a:lnSpc>
                  <a:spcPts val="3884"/>
                </a:lnSpc>
                <a:buAutoNum type="arabicPeriod" startAt="1"/>
              </a:pPr>
              <a:r>
                <a:rPr lang="en-US" sz="2775" i="true">
                  <a:solidFill>
                    <a:srgbClr val="FFFFFF"/>
                  </a:solidFill>
                  <a:latin typeface="Muli Extra-Light Italics"/>
                  <a:ea typeface="Muli Extra-Light Italics"/>
                  <a:cs typeface="Muli Extra-Light Italics"/>
                  <a:sym typeface="Muli Extra-Light Italics"/>
                </a:rPr>
                <a:t>An ninh vật lý </a:t>
              </a:r>
            </a:p>
            <a:p>
              <a:pPr algn="l" marL="599122" indent="-299561" lvl="1">
                <a:lnSpc>
                  <a:spcPts val="3884"/>
                </a:lnSpc>
                <a:buAutoNum type="arabicPeriod" startAt="1"/>
              </a:pPr>
              <a:r>
                <a:rPr lang="en-US" sz="2775" i="true">
                  <a:solidFill>
                    <a:srgbClr val="FFFFFF"/>
                  </a:solidFill>
                  <a:latin typeface="Muli Extra-Light Italics"/>
                  <a:ea typeface="Muli Extra-Light Italics"/>
                  <a:cs typeface="Muli Extra-Light Italics"/>
                  <a:sym typeface="Muli Extra-Light Italics"/>
                </a:rPr>
                <a:t>An ninh mạng (Cybersecurity)</a:t>
              </a:r>
            </a:p>
            <a:p>
              <a:pPr algn="l" marL="599122" indent="-299561" lvl="1">
                <a:lnSpc>
                  <a:spcPts val="3884"/>
                </a:lnSpc>
                <a:buAutoNum type="arabicPeriod" startAt="1"/>
              </a:pPr>
              <a:r>
                <a:rPr lang="en-US" sz="2775" i="true">
                  <a:solidFill>
                    <a:srgbClr val="FFFFFF"/>
                  </a:solidFill>
                  <a:latin typeface="Muli Extra-Light Italics"/>
                  <a:ea typeface="Muli Extra-Light Italics"/>
                  <a:cs typeface="Muli Extra-Light Italics"/>
                  <a:sym typeface="Muli Extra-Light Italics"/>
                </a:rPr>
                <a:t>Quản lý người dùng</a:t>
              </a:r>
            </a:p>
            <a:p>
              <a:pPr algn="l" marL="599122" indent="-299561" lvl="1">
                <a:lnSpc>
                  <a:spcPts val="3884"/>
                </a:lnSpc>
                <a:buAutoNum type="arabicPeriod" startAt="1"/>
              </a:pPr>
              <a:r>
                <a:rPr lang="en-US" sz="2775" i="true">
                  <a:solidFill>
                    <a:srgbClr val="FFFFFF"/>
                  </a:solidFill>
                  <a:latin typeface="Muli Extra-Light Italics"/>
                  <a:ea typeface="Muli Extra-Light Italics"/>
                  <a:cs typeface="Muli Extra-Light Italics"/>
                  <a:sym typeface="Muli Extra-Light Italics"/>
                </a:rPr>
                <a:t>Giám sát và phản ứng sự cố </a:t>
              </a:r>
            </a:p>
            <a:p>
              <a:pPr algn="l">
                <a:lnSpc>
                  <a:spcPts val="3884"/>
                </a:lnSpc>
              </a:pP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sp>
        <p:nvSpPr>
          <p:cNvPr name="AutoShape 2" id="2"/>
          <p:cNvSpPr/>
          <p:nvPr/>
        </p:nvSpPr>
        <p:spPr>
          <a:xfrm flipV="true">
            <a:off x="6349892" y="1019175"/>
            <a:ext cx="0" cy="8239125"/>
          </a:xfrm>
          <a:prstGeom prst="line">
            <a:avLst/>
          </a:prstGeom>
          <a:ln cap="rnd" w="19050">
            <a:solidFill>
              <a:srgbClr val="10B5BF"/>
            </a:solidFill>
            <a:prstDash val="solid"/>
            <a:headEnd type="none" len="sm" w="sm"/>
            <a:tailEnd type="none" len="sm" w="sm"/>
          </a:ln>
        </p:spPr>
      </p:sp>
      <p:sp>
        <p:nvSpPr>
          <p:cNvPr name="Freeform 3" id="3"/>
          <p:cNvSpPr/>
          <p:nvPr/>
        </p:nvSpPr>
        <p:spPr>
          <a:xfrm flipH="false" flipV="false" rot="0">
            <a:off x="7622360" y="487621"/>
            <a:ext cx="8460473" cy="9311759"/>
          </a:xfrm>
          <a:custGeom>
            <a:avLst/>
            <a:gdLst/>
            <a:ahLst/>
            <a:cxnLst/>
            <a:rect r="r" b="b" t="t" l="l"/>
            <a:pathLst>
              <a:path h="9311759" w="8460473">
                <a:moveTo>
                  <a:pt x="0" y="0"/>
                </a:moveTo>
                <a:lnTo>
                  <a:pt x="8460473" y="0"/>
                </a:lnTo>
                <a:lnTo>
                  <a:pt x="8460473" y="9311758"/>
                </a:lnTo>
                <a:lnTo>
                  <a:pt x="0" y="9311758"/>
                </a:lnTo>
                <a:lnTo>
                  <a:pt x="0" y="0"/>
                </a:lnTo>
                <a:close/>
              </a:path>
            </a:pathLst>
          </a:custGeom>
          <a:blipFill>
            <a:blip r:embed="rId2"/>
            <a:stretch>
              <a:fillRect l="0" t="0" r="0" b="0"/>
            </a:stretch>
          </a:blipFill>
        </p:spPr>
      </p:sp>
      <p:grpSp>
        <p:nvGrpSpPr>
          <p:cNvPr name="Group 4" id="4"/>
          <p:cNvGrpSpPr/>
          <p:nvPr/>
        </p:nvGrpSpPr>
        <p:grpSpPr>
          <a:xfrm rot="0">
            <a:off x="1028700" y="3163036"/>
            <a:ext cx="4461384" cy="5385723"/>
            <a:chOff x="0" y="0"/>
            <a:chExt cx="5948511" cy="7180964"/>
          </a:xfrm>
        </p:grpSpPr>
        <p:sp>
          <p:nvSpPr>
            <p:cNvPr name="TextBox 5" id="5"/>
            <p:cNvSpPr txBox="true"/>
            <p:nvPr/>
          </p:nvSpPr>
          <p:spPr>
            <a:xfrm rot="0">
              <a:off x="0" y="6571364"/>
              <a:ext cx="5948511" cy="609600"/>
            </a:xfrm>
            <a:prstGeom prst="rect">
              <a:avLst/>
            </a:prstGeom>
          </p:spPr>
          <p:txBody>
            <a:bodyPr anchor="t" rtlCol="false" tIns="0" lIns="0" bIns="0" rIns="0">
              <a:spAutoFit/>
            </a:bodyPr>
            <a:lstStyle/>
            <a:p>
              <a:pPr algn="l">
                <a:lnSpc>
                  <a:spcPts val="3600"/>
                </a:lnSpc>
              </a:pPr>
            </a:p>
          </p:txBody>
        </p:sp>
        <p:sp>
          <p:nvSpPr>
            <p:cNvPr name="TextBox 6" id="6"/>
            <p:cNvSpPr txBox="true"/>
            <p:nvPr/>
          </p:nvSpPr>
          <p:spPr>
            <a:xfrm rot="0">
              <a:off x="0" y="0"/>
              <a:ext cx="5948511" cy="5435600"/>
            </a:xfrm>
            <a:prstGeom prst="rect">
              <a:avLst/>
            </a:prstGeom>
          </p:spPr>
          <p:txBody>
            <a:bodyPr anchor="t" rtlCol="false" tIns="0" lIns="0" bIns="0" rIns="0">
              <a:spAutoFit/>
            </a:bodyPr>
            <a:lstStyle/>
            <a:p>
              <a:pPr algn="ctr">
                <a:lnSpc>
                  <a:spcPts val="8069"/>
                </a:lnSpc>
              </a:pPr>
              <a:r>
                <a:rPr lang="en-US" sz="6724">
                  <a:solidFill>
                    <a:srgbClr val="FFFFFF"/>
                  </a:solidFill>
                  <a:latin typeface="Muli"/>
                  <a:ea typeface="Muli"/>
                  <a:cs typeface="Muli"/>
                  <a:sym typeface="Muli"/>
                </a:rPr>
                <a:t>THÔNG TIN THIẾT BỊ SỬ DỤNG</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grpSp>
        <p:nvGrpSpPr>
          <p:cNvPr name="Group 2" id="2"/>
          <p:cNvGrpSpPr/>
          <p:nvPr/>
        </p:nvGrpSpPr>
        <p:grpSpPr>
          <a:xfrm rot="0">
            <a:off x="1028700" y="2388561"/>
            <a:ext cx="6167680" cy="6904636"/>
            <a:chOff x="0" y="0"/>
            <a:chExt cx="8223573" cy="9206181"/>
          </a:xfrm>
        </p:grpSpPr>
        <p:sp>
          <p:nvSpPr>
            <p:cNvPr name="TextBox 3" id="3"/>
            <p:cNvSpPr txBox="true"/>
            <p:nvPr/>
          </p:nvSpPr>
          <p:spPr>
            <a:xfrm rot="0">
              <a:off x="0" y="10425381"/>
              <a:ext cx="8223573" cy="609600"/>
            </a:xfrm>
            <a:prstGeom prst="rect">
              <a:avLst/>
            </a:prstGeom>
          </p:spPr>
          <p:txBody>
            <a:bodyPr anchor="t" rtlCol="false" tIns="0" lIns="0" bIns="0" rIns="0">
              <a:spAutoFit/>
            </a:bodyPr>
            <a:lstStyle/>
            <a:p>
              <a:pPr algn="l">
                <a:lnSpc>
                  <a:spcPts val="3600"/>
                </a:lnSpc>
              </a:pPr>
            </a:p>
          </p:txBody>
        </p:sp>
        <p:sp>
          <p:nvSpPr>
            <p:cNvPr name="TextBox 4" id="4"/>
            <p:cNvSpPr txBox="true"/>
            <p:nvPr/>
          </p:nvSpPr>
          <p:spPr>
            <a:xfrm rot="0">
              <a:off x="0" y="85725"/>
              <a:ext cx="8223573" cy="5410826"/>
            </a:xfrm>
            <a:prstGeom prst="rect">
              <a:avLst/>
            </a:prstGeom>
          </p:spPr>
          <p:txBody>
            <a:bodyPr anchor="t" rtlCol="false" tIns="0" lIns="0" bIns="0" rIns="0">
              <a:spAutoFit/>
            </a:bodyPr>
            <a:lstStyle/>
            <a:p>
              <a:pPr algn="l">
                <a:lnSpc>
                  <a:spcPts val="10559"/>
                </a:lnSpc>
              </a:pPr>
              <a:r>
                <a:rPr lang="en-US" sz="9599" b="true">
                  <a:solidFill>
                    <a:srgbClr val="FFFFFF"/>
                  </a:solidFill>
                  <a:latin typeface="Muli Semi-Bold"/>
                  <a:ea typeface="Muli Semi-Bold"/>
                  <a:cs typeface="Muli Semi-Bold"/>
                  <a:sym typeface="Muli Semi-Bold"/>
                </a:rPr>
                <a:t>BẢNG ĐỊA CHỈ CỦA MÔ HÌNH</a:t>
              </a:r>
            </a:p>
          </p:txBody>
        </p:sp>
      </p:grpSp>
      <p:sp>
        <p:nvSpPr>
          <p:cNvPr name="AutoShape 5" id="5"/>
          <p:cNvSpPr/>
          <p:nvPr/>
        </p:nvSpPr>
        <p:spPr>
          <a:xfrm flipV="true">
            <a:off x="7205905" y="1619911"/>
            <a:ext cx="0" cy="7638389"/>
          </a:xfrm>
          <a:prstGeom prst="line">
            <a:avLst/>
          </a:prstGeom>
          <a:ln cap="rnd" w="19050">
            <a:solidFill>
              <a:srgbClr val="10B5BF"/>
            </a:solidFill>
            <a:prstDash val="solid"/>
            <a:headEnd type="none" len="sm" w="sm"/>
            <a:tailEnd type="none" len="sm" w="sm"/>
          </a:ln>
        </p:spPr>
      </p:sp>
      <p:sp>
        <p:nvSpPr>
          <p:cNvPr name="Freeform 6" id="6"/>
          <p:cNvSpPr/>
          <p:nvPr/>
        </p:nvSpPr>
        <p:spPr>
          <a:xfrm flipH="false" flipV="false" rot="0">
            <a:off x="-449167" y="8469555"/>
            <a:ext cx="3586584" cy="2976864"/>
          </a:xfrm>
          <a:custGeom>
            <a:avLst/>
            <a:gdLst/>
            <a:ahLst/>
            <a:cxnLst/>
            <a:rect r="r" b="b" t="t" l="l"/>
            <a:pathLst>
              <a:path h="2976864" w="3586584">
                <a:moveTo>
                  <a:pt x="0" y="0"/>
                </a:moveTo>
                <a:lnTo>
                  <a:pt x="3586584" y="0"/>
                </a:lnTo>
                <a:lnTo>
                  <a:pt x="3586584" y="2976864"/>
                </a:lnTo>
                <a:lnTo>
                  <a:pt x="0" y="2976864"/>
                </a:lnTo>
                <a:lnTo>
                  <a:pt x="0" y="0"/>
                </a:lnTo>
                <a:close/>
              </a:path>
            </a:pathLst>
          </a:custGeom>
          <a:blipFill>
            <a:blip r:embed="rId2"/>
            <a:stretch>
              <a:fillRect l="0" t="0" r="0" b="0"/>
            </a:stretch>
          </a:blipFill>
        </p:spPr>
      </p:sp>
      <p:sp>
        <p:nvSpPr>
          <p:cNvPr name="Freeform 7" id="7"/>
          <p:cNvSpPr/>
          <p:nvPr/>
        </p:nvSpPr>
        <p:spPr>
          <a:xfrm flipH="false" flipV="false" rot="0">
            <a:off x="15622147" y="-644330"/>
            <a:ext cx="4024687" cy="4528480"/>
          </a:xfrm>
          <a:custGeom>
            <a:avLst/>
            <a:gdLst/>
            <a:ahLst/>
            <a:cxnLst/>
            <a:rect r="r" b="b" t="t" l="l"/>
            <a:pathLst>
              <a:path h="4528480" w="4024687">
                <a:moveTo>
                  <a:pt x="0" y="0"/>
                </a:moveTo>
                <a:lnTo>
                  <a:pt x="4024687" y="0"/>
                </a:lnTo>
                <a:lnTo>
                  <a:pt x="4024687" y="4528481"/>
                </a:lnTo>
                <a:lnTo>
                  <a:pt x="0" y="4528481"/>
                </a:lnTo>
                <a:lnTo>
                  <a:pt x="0" y="0"/>
                </a:lnTo>
                <a:close/>
              </a:path>
            </a:pathLst>
          </a:custGeom>
          <a:blipFill>
            <a:blip r:embed="rId3"/>
            <a:stretch>
              <a:fillRect l="0" t="0" r="0" b="0"/>
            </a:stretch>
          </a:blipFill>
        </p:spPr>
      </p:sp>
      <p:sp>
        <p:nvSpPr>
          <p:cNvPr name="Freeform 8" id="8"/>
          <p:cNvSpPr/>
          <p:nvPr/>
        </p:nvSpPr>
        <p:spPr>
          <a:xfrm flipH="false" flipV="false" rot="0">
            <a:off x="7513251" y="2214694"/>
            <a:ext cx="9925776" cy="6684076"/>
          </a:xfrm>
          <a:custGeom>
            <a:avLst/>
            <a:gdLst/>
            <a:ahLst/>
            <a:cxnLst/>
            <a:rect r="r" b="b" t="t" l="l"/>
            <a:pathLst>
              <a:path h="6684076" w="9925776">
                <a:moveTo>
                  <a:pt x="0" y="0"/>
                </a:moveTo>
                <a:lnTo>
                  <a:pt x="9925776" y="0"/>
                </a:lnTo>
                <a:lnTo>
                  <a:pt x="9925776" y="6684076"/>
                </a:lnTo>
                <a:lnTo>
                  <a:pt x="0" y="6684076"/>
                </a:lnTo>
                <a:lnTo>
                  <a:pt x="0" y="0"/>
                </a:lnTo>
                <a:close/>
              </a:path>
            </a:pathLst>
          </a:custGeom>
          <a:blipFill>
            <a:blip r:embed="rId4"/>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grpSp>
        <p:nvGrpSpPr>
          <p:cNvPr name="Group 2" id="2"/>
          <p:cNvGrpSpPr/>
          <p:nvPr/>
        </p:nvGrpSpPr>
        <p:grpSpPr>
          <a:xfrm rot="0">
            <a:off x="1028700" y="543309"/>
            <a:ext cx="16851323" cy="9200383"/>
            <a:chOff x="0" y="0"/>
            <a:chExt cx="22468431" cy="12267177"/>
          </a:xfrm>
        </p:grpSpPr>
        <p:sp>
          <p:nvSpPr>
            <p:cNvPr name="TextBox 3" id="3"/>
            <p:cNvSpPr txBox="true"/>
            <p:nvPr/>
          </p:nvSpPr>
          <p:spPr>
            <a:xfrm rot="0">
              <a:off x="0" y="4131422"/>
              <a:ext cx="22468431" cy="8135755"/>
            </a:xfrm>
            <a:prstGeom prst="rect">
              <a:avLst/>
            </a:prstGeom>
          </p:spPr>
          <p:txBody>
            <a:bodyPr anchor="t" rtlCol="false" tIns="0" lIns="0" bIns="0" rIns="0">
              <a:spAutoFit/>
            </a:bodyPr>
            <a:lstStyle/>
            <a:p>
              <a:pPr algn="l" marL="589327" indent="-294664" lvl="1">
                <a:lnSpc>
                  <a:spcPts val="4913"/>
                </a:lnSpc>
                <a:spcBef>
                  <a:spcPct val="0"/>
                </a:spcBef>
                <a:buFont typeface="Arial"/>
                <a:buChar char="•"/>
              </a:pPr>
              <a:r>
                <a:rPr lang="en-US" sz="2729">
                  <a:solidFill>
                    <a:srgbClr val="FFFFFF"/>
                  </a:solidFill>
                  <a:latin typeface="Muli Extra-Light"/>
                  <a:ea typeface="Muli Extra-Light"/>
                  <a:cs typeface="Muli Extra-Light"/>
                  <a:sym typeface="Muli Extra-Light"/>
                </a:rPr>
                <a:t>Kế</a:t>
              </a:r>
              <a:r>
                <a:rPr lang="en-US" sz="2729" u="none">
                  <a:solidFill>
                    <a:srgbClr val="FFFFFF"/>
                  </a:solidFill>
                  <a:latin typeface="Muli Extra-Light"/>
                  <a:ea typeface="Muli Extra-Light"/>
                  <a:cs typeface="Muli Extra-Light"/>
                  <a:sym typeface="Muli Extra-Light"/>
                </a:rPr>
                <a:t>t luận: Báo cáo đã trình bày quá trình khảo sát, thiết kế, triển khai và bảo mật hệ thống WiFi cho doanh nghiệp ABC. Hệ thống được xây dựng dựa trên nhu cầu thực tế, sử dụng thiết bị phù hợp và áp dụng các chuẩn bảo mật như WPA2/WPA3, xác thực 802.1X kết hợp RADIUS. Mạng WiFi đáp ứng tốt về tốc độ, bảo mật và khả năng quản lý, phù hợp với quy mô doanh nghiệp vừa, dễ bảo trì và mở rộng.</a:t>
              </a:r>
            </a:p>
            <a:p>
              <a:pPr algn="l" marL="589327" indent="-294664" lvl="1">
                <a:lnSpc>
                  <a:spcPts val="4913"/>
                </a:lnSpc>
                <a:spcBef>
                  <a:spcPct val="0"/>
                </a:spcBef>
                <a:buFont typeface="Arial"/>
                <a:buChar char="•"/>
              </a:pPr>
              <a:r>
                <a:rPr lang="en-US" sz="2729" u="none">
                  <a:solidFill>
                    <a:srgbClr val="FFFFFF"/>
                  </a:solidFill>
                  <a:latin typeface="Muli Extra-Light"/>
                  <a:ea typeface="Muli Extra-Light"/>
                  <a:cs typeface="Muli Extra-Light"/>
                  <a:sym typeface="Muli Extra-Light"/>
                </a:rPr>
                <a:t>Hướng phát triển</a:t>
              </a:r>
            </a:p>
            <a:p>
              <a:pPr algn="l" marL="1178654" indent="-392885" lvl="2">
                <a:lnSpc>
                  <a:spcPts val="4913"/>
                </a:lnSpc>
                <a:spcBef>
                  <a:spcPct val="0"/>
                </a:spcBef>
                <a:buFont typeface="Arial"/>
                <a:buChar char="⚬"/>
              </a:pPr>
              <a:r>
                <a:rPr lang="en-US" sz="2729" u="none">
                  <a:solidFill>
                    <a:srgbClr val="FFFFFF"/>
                  </a:solidFill>
                  <a:latin typeface="Muli Extra-Light"/>
                  <a:ea typeface="Muli Extra-Light"/>
                  <a:cs typeface="Muli Extra-Light"/>
                  <a:sym typeface="Muli Extra-Light"/>
                </a:rPr>
                <a:t>Tích hợp hệ thống giám sát bảo mật SIEM.</a:t>
              </a:r>
            </a:p>
            <a:p>
              <a:pPr algn="l" marL="1178654" indent="-392885" lvl="2">
                <a:lnSpc>
                  <a:spcPts val="4913"/>
                </a:lnSpc>
                <a:spcBef>
                  <a:spcPct val="0"/>
                </a:spcBef>
                <a:buFont typeface="Arial"/>
                <a:buChar char="⚬"/>
              </a:pPr>
              <a:r>
                <a:rPr lang="en-US" sz="2729" u="none">
                  <a:solidFill>
                    <a:srgbClr val="FFFFFF"/>
                  </a:solidFill>
                  <a:latin typeface="Muli Extra-Light"/>
                  <a:ea typeface="Muli Extra-Light"/>
                  <a:cs typeface="Muli Extra-Light"/>
                  <a:sym typeface="Muli Extra-Light"/>
                </a:rPr>
                <a:t>Triển khai WiFi Mesh để mở rộng vùng phủ sóng.</a:t>
              </a:r>
            </a:p>
            <a:p>
              <a:pPr algn="l" marL="1178654" indent="-392885" lvl="2">
                <a:lnSpc>
                  <a:spcPts val="4913"/>
                </a:lnSpc>
                <a:spcBef>
                  <a:spcPct val="0"/>
                </a:spcBef>
                <a:buFont typeface="Arial"/>
                <a:buChar char="⚬"/>
              </a:pPr>
              <a:r>
                <a:rPr lang="en-US" sz="2729" u="none">
                  <a:solidFill>
                    <a:srgbClr val="FFFFFF"/>
                  </a:solidFill>
                  <a:latin typeface="Muli Extra-Light"/>
                  <a:ea typeface="Muli Extra-Light"/>
                  <a:cs typeface="Muli Extra-Light"/>
                  <a:sym typeface="Muli Extra-Light"/>
                </a:rPr>
                <a:t>Áp dụng xác thực đa yếu tố (MFA) cho người dùng quan trọng.</a:t>
              </a:r>
            </a:p>
            <a:p>
              <a:pPr algn="l" marL="1178654" indent="-392885" lvl="2">
                <a:lnSpc>
                  <a:spcPts val="4913"/>
                </a:lnSpc>
                <a:spcBef>
                  <a:spcPct val="0"/>
                </a:spcBef>
                <a:buFont typeface="Arial"/>
                <a:buChar char="⚬"/>
              </a:pPr>
              <a:r>
                <a:rPr lang="en-US" sz="2729" u="none">
                  <a:solidFill>
                    <a:srgbClr val="FFFFFF"/>
                  </a:solidFill>
                  <a:latin typeface="Muli Extra-Light"/>
                  <a:ea typeface="Muli Extra-Light"/>
                  <a:cs typeface="Muli Extra-Light"/>
                  <a:sym typeface="Muli Extra-Light"/>
                </a:rPr>
                <a:t>Tự động hóa quản lý cấu hình và cập nhật thiết bị.</a:t>
              </a:r>
            </a:p>
            <a:p>
              <a:pPr algn="l" marL="1178654" indent="-392885" lvl="2">
                <a:lnSpc>
                  <a:spcPts val="4913"/>
                </a:lnSpc>
                <a:spcBef>
                  <a:spcPct val="0"/>
                </a:spcBef>
                <a:buFont typeface="Arial"/>
                <a:buChar char="⚬"/>
              </a:pPr>
              <a:r>
                <a:rPr lang="en-US" sz="2729" u="none">
                  <a:solidFill>
                    <a:srgbClr val="FFFFFF"/>
                  </a:solidFill>
                  <a:latin typeface="Muli Extra-Light"/>
                  <a:ea typeface="Muli Extra-Light"/>
                  <a:cs typeface="Muli Extra-Light"/>
                  <a:sym typeface="Muli Extra-Light"/>
                </a:rPr>
                <a:t>Đào tạo nhân viên nâng cao nhận thức về an toàn thông tin.</a:t>
              </a:r>
            </a:p>
          </p:txBody>
        </p:sp>
        <p:sp>
          <p:nvSpPr>
            <p:cNvPr name="TextBox 4" id="4"/>
            <p:cNvSpPr txBox="true"/>
            <p:nvPr/>
          </p:nvSpPr>
          <p:spPr>
            <a:xfrm rot="0">
              <a:off x="0" y="0"/>
              <a:ext cx="22468431" cy="1272054"/>
            </a:xfrm>
            <a:prstGeom prst="rect">
              <a:avLst/>
            </a:prstGeom>
          </p:spPr>
          <p:txBody>
            <a:bodyPr anchor="t" rtlCol="false" tIns="0" lIns="0" bIns="0" rIns="0">
              <a:spAutoFit/>
            </a:bodyPr>
            <a:lstStyle/>
            <a:p>
              <a:pPr algn="l">
                <a:lnSpc>
                  <a:spcPts val="7579"/>
                </a:lnSpc>
              </a:pPr>
              <a:r>
                <a:rPr lang="en-US" sz="6316" b="true">
                  <a:solidFill>
                    <a:srgbClr val="FFFFFF"/>
                  </a:solidFill>
                  <a:latin typeface="Muli Semi-Bold"/>
                  <a:ea typeface="Muli Semi-Bold"/>
                  <a:cs typeface="Muli Semi-Bold"/>
                  <a:sym typeface="Muli Semi-Bold"/>
                </a:rPr>
                <a:t>Kết luận </a:t>
              </a:r>
              <a:r>
                <a:rPr lang="en-US" sz="6316" b="true">
                  <a:solidFill>
                    <a:srgbClr val="FFFFFF"/>
                  </a:solidFill>
                  <a:latin typeface="Muli Semi-Bold"/>
                  <a:ea typeface="Muli Semi-Bold"/>
                  <a:cs typeface="Muli Semi-Bold"/>
                  <a:sym typeface="Muli Semi-Bold"/>
                </a:rPr>
                <a:t>và hướng phát triển trong tương lai </a:t>
              </a:r>
            </a:p>
          </p:txBody>
        </p:sp>
        <p:sp>
          <p:nvSpPr>
            <p:cNvPr name="AutoShape 5" id="5"/>
            <p:cNvSpPr/>
            <p:nvPr/>
          </p:nvSpPr>
          <p:spPr>
            <a:xfrm>
              <a:off x="0" y="2604194"/>
              <a:ext cx="22468431" cy="0"/>
            </a:xfrm>
            <a:prstGeom prst="line">
              <a:avLst/>
            </a:prstGeom>
            <a:ln cap="rnd" w="22920">
              <a:solidFill>
                <a:srgbClr val="10B5BF"/>
              </a:solidFill>
              <a:prstDash val="solid"/>
              <a:headEnd type="none" len="sm" w="sm"/>
              <a:tailEnd type="none" len="sm" w="sm"/>
            </a:ln>
          </p:spPr>
        </p:sp>
      </p:grpSp>
      <p:sp>
        <p:nvSpPr>
          <p:cNvPr name="Freeform 6" id="6"/>
          <p:cNvSpPr/>
          <p:nvPr/>
        </p:nvSpPr>
        <p:spPr>
          <a:xfrm flipH="false" flipV="false" rot="0">
            <a:off x="12128712" y="6519568"/>
            <a:ext cx="7160084" cy="5477464"/>
          </a:xfrm>
          <a:custGeom>
            <a:avLst/>
            <a:gdLst/>
            <a:ahLst/>
            <a:cxnLst/>
            <a:rect r="r" b="b" t="t" l="l"/>
            <a:pathLst>
              <a:path h="5477464" w="7160084">
                <a:moveTo>
                  <a:pt x="0" y="0"/>
                </a:moveTo>
                <a:lnTo>
                  <a:pt x="7160083" y="0"/>
                </a:lnTo>
                <a:lnTo>
                  <a:pt x="7160083" y="5477464"/>
                </a:lnTo>
                <a:lnTo>
                  <a:pt x="0" y="5477464"/>
                </a:lnTo>
                <a:lnTo>
                  <a:pt x="0" y="0"/>
                </a:lnTo>
                <a:close/>
              </a:path>
            </a:pathLst>
          </a:custGeom>
          <a:blipFill>
            <a:blip r:embed="rId2"/>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sp>
        <p:nvSpPr>
          <p:cNvPr name="Freeform 2" id="2"/>
          <p:cNvSpPr/>
          <p:nvPr/>
        </p:nvSpPr>
        <p:spPr>
          <a:xfrm flipH="true" flipV="true" rot="0">
            <a:off x="-3120664" y="-1894218"/>
            <a:ext cx="7641615" cy="5845836"/>
          </a:xfrm>
          <a:custGeom>
            <a:avLst/>
            <a:gdLst/>
            <a:ahLst/>
            <a:cxnLst/>
            <a:rect r="r" b="b" t="t" l="l"/>
            <a:pathLst>
              <a:path h="5845836" w="7641615">
                <a:moveTo>
                  <a:pt x="7641615" y="5845836"/>
                </a:moveTo>
                <a:lnTo>
                  <a:pt x="0" y="5845836"/>
                </a:lnTo>
                <a:lnTo>
                  <a:pt x="0" y="0"/>
                </a:lnTo>
                <a:lnTo>
                  <a:pt x="7641615" y="0"/>
                </a:lnTo>
                <a:lnTo>
                  <a:pt x="7641615" y="5845836"/>
                </a:lnTo>
                <a:close/>
              </a:path>
            </a:pathLst>
          </a:custGeom>
          <a:blipFill>
            <a:blip r:embed="rId2"/>
            <a:stretch>
              <a:fillRect l="0" t="0" r="0" b="0"/>
            </a:stretch>
          </a:blipFill>
        </p:spPr>
      </p:sp>
      <p:sp>
        <p:nvSpPr>
          <p:cNvPr name="Freeform 3" id="3"/>
          <p:cNvSpPr/>
          <p:nvPr/>
        </p:nvSpPr>
        <p:spPr>
          <a:xfrm flipH="false" flipV="false" rot="0">
            <a:off x="15828113" y="-1235540"/>
            <a:ext cx="4024687" cy="4528480"/>
          </a:xfrm>
          <a:custGeom>
            <a:avLst/>
            <a:gdLst/>
            <a:ahLst/>
            <a:cxnLst/>
            <a:rect r="r" b="b" t="t" l="l"/>
            <a:pathLst>
              <a:path h="4528480" w="4024687">
                <a:moveTo>
                  <a:pt x="0" y="0"/>
                </a:moveTo>
                <a:lnTo>
                  <a:pt x="4024687" y="0"/>
                </a:lnTo>
                <a:lnTo>
                  <a:pt x="4024687" y="4528480"/>
                </a:lnTo>
                <a:lnTo>
                  <a:pt x="0" y="4528480"/>
                </a:lnTo>
                <a:lnTo>
                  <a:pt x="0" y="0"/>
                </a:lnTo>
                <a:close/>
              </a:path>
            </a:pathLst>
          </a:custGeom>
          <a:blipFill>
            <a:blip r:embed="rId3"/>
            <a:stretch>
              <a:fillRect l="0" t="0" r="-17479" b="-17479"/>
            </a:stretch>
          </a:blipFill>
        </p:spPr>
      </p:sp>
      <p:sp>
        <p:nvSpPr>
          <p:cNvPr name="Freeform 4" id="4"/>
          <p:cNvSpPr/>
          <p:nvPr/>
        </p:nvSpPr>
        <p:spPr>
          <a:xfrm flipH="false" flipV="false" rot="0">
            <a:off x="10951177" y="6440019"/>
            <a:ext cx="9079138" cy="9359937"/>
          </a:xfrm>
          <a:custGeom>
            <a:avLst/>
            <a:gdLst/>
            <a:ahLst/>
            <a:cxnLst/>
            <a:rect r="r" b="b" t="t" l="l"/>
            <a:pathLst>
              <a:path h="9359937" w="9079138">
                <a:moveTo>
                  <a:pt x="0" y="0"/>
                </a:moveTo>
                <a:lnTo>
                  <a:pt x="9079138" y="0"/>
                </a:lnTo>
                <a:lnTo>
                  <a:pt x="9079138" y="9359936"/>
                </a:lnTo>
                <a:lnTo>
                  <a:pt x="0" y="9359936"/>
                </a:lnTo>
                <a:lnTo>
                  <a:pt x="0" y="0"/>
                </a:lnTo>
                <a:close/>
              </a:path>
            </a:pathLst>
          </a:custGeom>
          <a:blipFill>
            <a:blip r:embed="rId4"/>
            <a:stretch>
              <a:fillRect l="0" t="0" r="0" b="0"/>
            </a:stretch>
          </a:blipFill>
        </p:spPr>
      </p:sp>
      <p:sp>
        <p:nvSpPr>
          <p:cNvPr name="TextBox 5" id="5"/>
          <p:cNvSpPr txBox="true"/>
          <p:nvPr/>
        </p:nvSpPr>
        <p:spPr>
          <a:xfrm rot="0">
            <a:off x="3200400" y="4629150"/>
            <a:ext cx="11887200" cy="1028700"/>
          </a:xfrm>
          <a:prstGeom prst="rect">
            <a:avLst/>
          </a:prstGeom>
        </p:spPr>
        <p:txBody>
          <a:bodyPr anchor="t" rtlCol="false" tIns="0" lIns="0" bIns="0" rIns="0">
            <a:spAutoFit/>
          </a:bodyPr>
          <a:lstStyle/>
          <a:p>
            <a:pPr algn="ctr">
              <a:lnSpc>
                <a:spcPts val="8159"/>
              </a:lnSpc>
              <a:spcBef>
                <a:spcPct val="0"/>
              </a:spcBef>
            </a:pPr>
            <a:r>
              <a:rPr lang="en-US" sz="6799">
                <a:solidFill>
                  <a:srgbClr val="FFFFFF"/>
                </a:solidFill>
                <a:latin typeface="Muli"/>
                <a:ea typeface="Muli"/>
                <a:cs typeface="Muli"/>
                <a:sym typeface="Muli"/>
              </a:rPr>
              <a:t>THANK YOU FOR WATCHING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DAGoFft_2xo</dc:identifier>
  <dcterms:modified xsi:type="dcterms:W3CDTF">2011-08-01T06:04:30Z</dcterms:modified>
  <cp:revision>1</cp:revision>
  <dc:title>Xanh dương Thành phần 3D Công nghệ 5G Bản thuyết trình</dc:title>
</cp:coreProperties>
</file>